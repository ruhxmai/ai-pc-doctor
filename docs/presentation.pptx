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957d6044-76d1-ea86-affb-0cab1a0188bb}">
          <p14:sldIdLst>
            <p14:sldId id="256"/>
            <p14:sldId id="257"/>
          </p14:sldIdLst>
        </p14:section>
        <p14:section name="Модели знаний" id="{97e329e2-7ef4-9869-d4ef-54fe3cefcc60}">
          <p14:sldIdLst>
            <p14:sldId id="258"/>
            <p14:sldId id="259"/>
            <p14:sldId id="260"/>
            <p14:sldId id="261"/>
            <p14:sldId id="262"/>
          </p14:sldIdLst>
        </p14:section>
        <p14:section name="Обучение и интеграция" id="{7db45e27-9125-ca9e-4f55-5bde4a4b55b2}">
          <p14:sldIdLst>
            <p14:sldId id="263"/>
            <p14:sldId id="264"/>
            <p14:sldId id="265"/>
            <p14:sldId id="266"/>
          </p14:sldIdLst>
        </p14:section>
        <p14:section name="Итоги" id="{b5077b15-1bc7-18f9-e652-cdbe90745b4e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2E"/>
                </a:solidFill>
                <a:latin typeface="+mn-lt"/>
              </a:rPr>
              <a:t>Точность на тестовой выборке (500 примеров)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FA36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Байес эксперта</c:v>
                  </c:pt>
                  <c:pt idx="1">
                    <c:v>Наивный Байес</c:v>
                  </c:pt>
                  <c:pt idx="2">
                    <c:v>kNN, k = 7</c:v>
                  </c:pt>
                  <c:pt idx="3">
                    <c:v>Нейросеть MLP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0.888</c:v>
                </c:pt>
                <c:pt idx="1">
                  <c:v>0.87</c:v>
                </c:pt>
                <c:pt idx="2">
                  <c:v>0.86</c:v>
                </c:pt>
                <c:pt idx="3">
                  <c:v>0.858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421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1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b"/>
        <c:majorGridlines>
          <c:spPr>
            <a:ln w="9525" cap="flat">
              <a:solidFill>
                <a:srgbClr val="DDE6E1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8F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проекта — ИИ-помощник и экспертная система для диагностики неисправностей ПК. Пользователь описывает проблему обычным языком, система определяет вероятную неисправность, объясняет свой вывод и даёт рекомендации. Все модули написаны на Python с нуля, из внешних библиотек — только numpy.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Предметная область выбрана потому, что признаки и неисправности хорошо формализуются, а одна и та же база знаний позволяет показать все модели представления знаний из курса.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модули строятся из одной базы знаний. Запрос проходит анализ на естественном языке, затем экспертная система объединяет шесть механизмов вывода, и ответ собирается по шаблонам.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Неделя 4 — база знаний и сеть, неделя 10 — поиск. Сеть строится автоматически из базы знаний и фреймов. Распространение активации по признакам даёт ранжированный список неисправностей.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Недели 5 и 6. Знания записаны на подмножестве Prolog, парсер и машина вывода написаны с нуля. Каждое решение возвращается с деревом доказательства — из него строится объяснение.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Неделя 7. Условия правил: all — И, any — ИЛИ, none — НЕ. Рефрактерность: правило срабатывает один раз. Приоритеты понадобились, чтобы совет «в сервисный центр» не сработал раньше, чем выведен программный диагноз.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Недели 8 и 9. 39 фреймов: 20 классов и 19 экземпляров. Процессор наследует и от комплектующего, и от источника тепла. Демон if_added при записи температуры сравнивает её с допустимой.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Недели 11 и 12. Наивный Байес и нейросеть реализованы без фреймворков. Нейросеть чуть уступает Байесу, потому что данные сгенерированы с независимыми признаками — это именно предположение наивного Байеса.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Неделя 13. Экспертная система объединяет все механизмы. Фреймы дают знания о конкретных комплектующих пользователя, семантическая сеть — признаки для дифференциальной диагностики.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Неделя 14. Помощник распознаёт признаки по шаблонам основ слов, учитывает отрицания внутри клаузы, определяет одно из 12 намерений и помнит контекст. Если уверенность ниже 85 %, сам задаёт уточняющий 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Запуск тестов: python main.py test. Отдельно проверяется, что аналитические градиенты нейросети совпадают с численными.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Каждой неделе соответствует отдельный коммит, демо-скрипт в папке demos и отчёт в docs/weeks.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вживую: чат (пункт 1), консультацию (2), логическую консоль (3) и фреймы (5).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PC Doctor · ИИ-помощник для диагностики неисправностей ПК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Doctor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ИИ-помощник и экспертная система диагностики неисправностей компьютера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73152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Семестровый проект по дисциплине «Искусственный интеллект» · 2026</a:t>
            </a:r>
            <a:endParaRPr lang="en-US" sz="1600" dirty="0"/>
          </a:p>
        </p:txBody>
      </p:sp>
      <p:sp>
        <p:nvSpPr>
          <p:cNvPr id="5" name="text-2"/>
          <p:cNvSpPr txBox="1"/>
          <p:nvPr/>
        </p:nvSpPr>
        <p:spPr>
          <a:xfrm>
            <a:off x="73152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Python 3.12 · numpy · github.com/ruhxmai/ai-pc-doctor</a:t>
            </a:r>
            <a:endParaRPr lang="en-US" sz="1400" dirty="0"/>
          </a:p>
        </p:txBody>
      </p:sp>
      <p:sp>
        <p:nvSpPr>
          <p:cNvPr id="6" name="line-3"/>
          <p:cNvSpPr/>
          <p:nvPr/>
        </p:nvSpPr>
        <p:spPr>
          <a:xfrm>
            <a:off x="9966960" y="1371600"/>
            <a:ext cx="1188720" cy="10058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line-4"/>
          <p:cNvSpPr/>
          <p:nvPr/>
        </p:nvSpPr>
        <p:spPr>
          <a:xfrm flipH="1">
            <a:off x="8869680" y="1371600"/>
            <a:ext cx="1097280" cy="12801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line-5"/>
          <p:cNvSpPr/>
          <p:nvPr/>
        </p:nvSpPr>
        <p:spPr>
          <a:xfrm>
            <a:off x="9966960" y="1371600"/>
            <a:ext cx="274320" cy="21945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line-6"/>
          <p:cNvSpPr/>
          <p:nvPr/>
        </p:nvSpPr>
        <p:spPr>
          <a:xfrm flipH="1">
            <a:off x="10241280" y="2377440"/>
            <a:ext cx="914400" cy="11887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line-7"/>
          <p:cNvSpPr/>
          <p:nvPr/>
        </p:nvSpPr>
        <p:spPr>
          <a:xfrm>
            <a:off x="8869680" y="2651760"/>
            <a:ext cx="1371600" cy="9144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line-8"/>
          <p:cNvSpPr/>
          <p:nvPr/>
        </p:nvSpPr>
        <p:spPr>
          <a:xfrm>
            <a:off x="10241280" y="3566160"/>
            <a:ext cx="1097280" cy="9144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line-9"/>
          <p:cNvSpPr/>
          <p:nvPr/>
        </p:nvSpPr>
        <p:spPr>
          <a:xfrm flipH="1">
            <a:off x="9144000" y="3566160"/>
            <a:ext cx="1097280" cy="11887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line-10"/>
          <p:cNvSpPr/>
          <p:nvPr/>
        </p:nvSpPr>
        <p:spPr>
          <a:xfrm>
            <a:off x="9144000" y="4754880"/>
            <a:ext cx="1188720" cy="8229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line-11"/>
          <p:cNvSpPr/>
          <p:nvPr/>
        </p:nvSpPr>
        <p:spPr>
          <a:xfrm flipH="1">
            <a:off x="10332720" y="4480560"/>
            <a:ext cx="1005840" cy="10972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5" name="node-12"/>
          <p:cNvSpPr/>
          <p:nvPr/>
        </p:nvSpPr>
        <p:spPr>
          <a:xfrm>
            <a:off x="9747504" y="115214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16" name="node-13"/>
          <p:cNvSpPr/>
          <p:nvPr/>
        </p:nvSpPr>
        <p:spPr>
          <a:xfrm>
            <a:off x="10936224" y="215798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17" name="node-14"/>
          <p:cNvSpPr/>
          <p:nvPr/>
        </p:nvSpPr>
        <p:spPr>
          <a:xfrm>
            <a:off x="8650224" y="243230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18" name="node-15"/>
          <p:cNvSpPr/>
          <p:nvPr/>
        </p:nvSpPr>
        <p:spPr>
          <a:xfrm>
            <a:off x="9857232" y="3182112"/>
            <a:ext cx="768096" cy="768096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19" name="node-16"/>
          <p:cNvSpPr/>
          <p:nvPr/>
        </p:nvSpPr>
        <p:spPr>
          <a:xfrm>
            <a:off x="11119104" y="426110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20" name="node-17"/>
          <p:cNvSpPr/>
          <p:nvPr/>
        </p:nvSpPr>
        <p:spPr>
          <a:xfrm>
            <a:off x="8924544" y="453542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21" name="node-18"/>
          <p:cNvSpPr/>
          <p:nvPr/>
        </p:nvSpPr>
        <p:spPr>
          <a:xfrm>
            <a:off x="10113264" y="535838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Предметная область и задача</a:t>
            </a:r>
            <a:endParaRPr lang="en-US" sz="3400" dirty="0"/>
          </a:p>
        </p:txBody>
      </p:sp>
      <p:sp>
        <p:nvSpPr>
          <p:cNvPr id="3" name="text-19"/>
          <p:cNvSpPr txBox="1"/>
          <p:nvPr/>
        </p:nvSpPr>
        <p:spPr>
          <a:xfrm>
            <a:off x="548640" y="13716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Задача</a:t>
            </a:r>
            <a:endParaRPr lang="en-US" sz="2200" dirty="0"/>
          </a:p>
        </p:txBody>
      </p:sp>
      <p:sp>
        <p:nvSpPr>
          <p:cNvPr id="4" name="text-20"/>
          <p:cNvSpPr txBox="1"/>
          <p:nvPr/>
        </p:nvSpPr>
        <p:spPr>
          <a:xfrm>
            <a:off x="548640" y="187452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Пользователь описывает признаки своими словами: «комп не включается и пахнет гарью»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Система находит вероятную неисправность и оценивает уверенность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Объясняет ход рассуждений и задаёт уточняющие вопросы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Даёт шаги устранения и предупреждает об опасности</a:t>
            </a:r>
            <a:endParaRPr lang="en-US" sz="1700" dirty="0"/>
          </a:p>
        </p:txBody>
      </p:sp>
      <p:sp>
        <p:nvSpPr>
          <p:cNvPr id="5" name="text-21"/>
          <p:cNvSpPr txBox="1"/>
          <p:nvPr/>
        </p:nvSpPr>
        <p:spPr>
          <a:xfrm>
            <a:off x="548640" y="4343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Почему эта область</a:t>
            </a:r>
            <a:endParaRPr lang="en-US" sz="2200" dirty="0"/>
          </a:p>
        </p:txBody>
      </p:sp>
      <p:sp>
        <p:nvSpPr>
          <p:cNvPr id="6" name="text-22"/>
          <p:cNvSpPr txBox="1"/>
          <p:nvPr/>
        </p:nvSpPr>
        <p:spPr>
          <a:xfrm>
            <a:off x="548640" y="48006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Конечный набор признаков и неисправностей хорошо формализуется и подходит для всех моделей знаний курса: логики, продукций, фреймов, семантических сетей и машинного обучения.</a:t>
            </a:r>
            <a:endParaRPr lang="en-US" sz="1700" dirty="0"/>
          </a:p>
        </p:txBody>
      </p:sp>
      <p:sp>
        <p:nvSpPr>
          <p:cNvPr id="7" name="card-23"/>
          <p:cNvSpPr/>
          <p:nvPr/>
        </p:nvSpPr>
        <p:spPr>
          <a:xfrm>
            <a:off x="7406640" y="1371600"/>
            <a:ext cx="4206240" cy="457200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24"/>
          <p:cNvSpPr txBox="1"/>
          <p:nvPr/>
        </p:nvSpPr>
        <p:spPr>
          <a:xfrm>
            <a:off x="786384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800" dirty="0"/>
          </a:p>
        </p:txBody>
      </p:sp>
      <p:sp>
        <p:nvSpPr>
          <p:cNvPr id="9" name="text-25"/>
          <p:cNvSpPr txBox="1"/>
          <p:nvPr/>
        </p:nvSpPr>
        <p:spPr>
          <a:xfrm>
            <a:off x="786384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признаков (симптомов)</a:t>
            </a:r>
            <a:endParaRPr lang="en-US" sz="1400" dirty="0"/>
          </a:p>
        </p:txBody>
      </p:sp>
      <p:sp>
        <p:nvSpPr>
          <p:cNvPr id="10" name="text-26"/>
          <p:cNvSpPr txBox="1"/>
          <p:nvPr/>
        </p:nvSpPr>
        <p:spPr>
          <a:xfrm>
            <a:off x="7863840" y="2971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11" name="text-27"/>
          <p:cNvSpPr txBox="1"/>
          <p:nvPr/>
        </p:nvSpPr>
        <p:spPr>
          <a:xfrm>
            <a:off x="786384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неисправностей: 5 аппаратных, 3 программных</a:t>
            </a:r>
            <a:endParaRPr lang="en-US" sz="1400" dirty="0"/>
          </a:p>
        </p:txBody>
      </p:sp>
      <p:sp>
        <p:nvSpPr>
          <p:cNvPr id="12" name="text-28"/>
          <p:cNvSpPr txBox="1"/>
          <p:nvPr/>
        </p:nvSpPr>
        <p:spPr>
          <a:xfrm>
            <a:off x="7863840" y="4389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800" dirty="0"/>
          </a:p>
        </p:txBody>
      </p:sp>
      <p:sp>
        <p:nvSpPr>
          <p:cNvPr id="13" name="text-29"/>
          <p:cNvSpPr txBox="1"/>
          <p:nvPr/>
        </p:nvSpPr>
        <p:spPr>
          <a:xfrm>
            <a:off x="7863840" y="5257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компонентов ПК в иерархии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от вопроса к ответу</a:t>
            </a:r>
            <a:endParaRPr lang="en-US" sz="3400" dirty="0"/>
          </a:p>
        </p:txBody>
      </p:sp>
      <p:sp>
        <p:nvSpPr>
          <p:cNvPr id="3" name="card-30"/>
          <p:cNvSpPr/>
          <p:nvPr/>
        </p:nvSpPr>
        <p:spPr>
          <a:xfrm>
            <a:off x="548640" y="132588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31"/>
          <p:cNvSpPr txBox="1"/>
          <p:nvPr/>
        </p:nvSpPr>
        <p:spPr>
          <a:xfrm>
            <a:off x="73152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Запрос</a:t>
            </a:r>
            <a:endParaRPr lang="en-US" sz="1800" dirty="0"/>
          </a:p>
        </p:txBody>
      </p:sp>
      <p:sp>
        <p:nvSpPr>
          <p:cNvPr id="5" name="text-32"/>
          <p:cNvSpPr txBox="1"/>
          <p:nvPr/>
        </p:nvSpPr>
        <p:spPr>
          <a:xfrm>
            <a:off x="73152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на русском языке</a:t>
            </a:r>
            <a:endParaRPr lang="en-US" sz="1300" dirty="0"/>
          </a:p>
        </p:txBody>
      </p:sp>
      <p:sp>
        <p:nvSpPr>
          <p:cNvPr id="6" name="arrow-33"/>
          <p:cNvSpPr/>
          <p:nvPr/>
        </p:nvSpPr>
        <p:spPr>
          <a:xfrm>
            <a:off x="3108960" y="1892808"/>
            <a:ext cx="27432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card-34"/>
          <p:cNvSpPr/>
          <p:nvPr/>
        </p:nvSpPr>
        <p:spPr>
          <a:xfrm>
            <a:off x="3429000" y="132588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35"/>
          <p:cNvSpPr txBox="1"/>
          <p:nvPr/>
        </p:nvSpPr>
        <p:spPr>
          <a:xfrm>
            <a:off x="361188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Анализ</a:t>
            </a:r>
            <a:endParaRPr lang="en-US" sz="1800" dirty="0"/>
          </a:p>
        </p:txBody>
      </p:sp>
      <p:sp>
        <p:nvSpPr>
          <p:cNvPr id="9" name="text-36"/>
          <p:cNvSpPr txBox="1"/>
          <p:nvPr/>
        </p:nvSpPr>
        <p:spPr>
          <a:xfrm>
            <a:off x="361188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признаки, отрицания, намерение</a:t>
            </a:r>
            <a:endParaRPr lang="en-US" sz="1300" dirty="0"/>
          </a:p>
        </p:txBody>
      </p:sp>
      <p:sp>
        <p:nvSpPr>
          <p:cNvPr id="10" name="arrow-37"/>
          <p:cNvSpPr/>
          <p:nvPr/>
        </p:nvSpPr>
        <p:spPr>
          <a:xfrm>
            <a:off x="5989320" y="1892808"/>
            <a:ext cx="27432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card-38"/>
          <p:cNvSpPr/>
          <p:nvPr/>
        </p:nvSpPr>
        <p:spPr>
          <a:xfrm>
            <a:off x="6309360" y="132588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39"/>
          <p:cNvSpPr txBox="1"/>
          <p:nvPr/>
        </p:nvSpPr>
        <p:spPr>
          <a:xfrm>
            <a:off x="649224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Экспертная система</a:t>
            </a:r>
            <a:endParaRPr lang="en-US" sz="1800" dirty="0"/>
          </a:p>
        </p:txBody>
      </p:sp>
      <p:sp>
        <p:nvSpPr>
          <p:cNvPr id="13" name="text-40"/>
          <p:cNvSpPr txBox="1"/>
          <p:nvPr/>
        </p:nvSpPr>
        <p:spPr>
          <a:xfrm>
            <a:off x="649224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комбинация механизмов вывода</a:t>
            </a:r>
            <a:endParaRPr lang="en-US" sz="1300" dirty="0"/>
          </a:p>
        </p:txBody>
      </p:sp>
      <p:sp>
        <p:nvSpPr>
          <p:cNvPr id="14" name="arrow-41"/>
          <p:cNvSpPr/>
          <p:nvPr/>
        </p:nvSpPr>
        <p:spPr>
          <a:xfrm>
            <a:off x="8869680" y="1892808"/>
            <a:ext cx="27432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card-42"/>
          <p:cNvSpPr/>
          <p:nvPr/>
        </p:nvSpPr>
        <p:spPr>
          <a:xfrm>
            <a:off x="9189720" y="132588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43"/>
          <p:cNvSpPr txBox="1"/>
          <p:nvPr/>
        </p:nvSpPr>
        <p:spPr>
          <a:xfrm>
            <a:off x="937260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Ответ</a:t>
            </a:r>
            <a:endParaRPr lang="en-US" sz="1800" dirty="0"/>
          </a:p>
        </p:txBody>
      </p:sp>
      <p:sp>
        <p:nvSpPr>
          <p:cNvPr id="17" name="text-44"/>
          <p:cNvSpPr txBox="1"/>
          <p:nvPr/>
        </p:nvSpPr>
        <p:spPr>
          <a:xfrm>
            <a:off x="937260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диагноз, шаги, объяснение</a:t>
            </a:r>
            <a:endParaRPr lang="en-US" sz="1300" dirty="0"/>
          </a:p>
        </p:txBody>
      </p:sp>
      <p:sp>
        <p:nvSpPr>
          <p:cNvPr id="18" name="card-45"/>
          <p:cNvSpPr/>
          <p:nvPr/>
        </p:nvSpPr>
        <p:spPr>
          <a:xfrm>
            <a:off x="548640" y="2880360"/>
            <a:ext cx="34747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46"/>
          <p:cNvSpPr/>
          <p:nvPr/>
        </p:nvSpPr>
        <p:spPr>
          <a:xfrm>
            <a:off x="731520" y="31546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text-47"/>
          <p:cNvSpPr txBox="1"/>
          <p:nvPr/>
        </p:nvSpPr>
        <p:spPr>
          <a:xfrm>
            <a:off x="73152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Н5–6</a:t>
            </a:r>
            <a:endParaRPr lang="en-US" sz="1000" dirty="0"/>
          </a:p>
        </p:txBody>
      </p:sp>
      <p:sp>
        <p:nvSpPr>
          <p:cNvPr id="21" name="text-48"/>
          <p:cNvSpPr txBox="1"/>
          <p:nvPr/>
        </p:nvSpPr>
        <p:spPr>
          <a:xfrm>
            <a:off x="1463040" y="3035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Логический вывод</a:t>
            </a:r>
            <a:endParaRPr lang="en-US" sz="1600" dirty="0"/>
          </a:p>
        </p:txBody>
      </p:sp>
      <p:sp>
        <p:nvSpPr>
          <p:cNvPr id="22" name="text-49"/>
          <p:cNvSpPr txBox="1"/>
          <p:nvPr/>
        </p:nvSpPr>
        <p:spPr>
          <a:xfrm>
            <a:off x="1463040" y="3401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обратный, AND / OR / NOT, «как?»</a:t>
            </a:r>
            <a:endParaRPr lang="en-US" sz="1200" dirty="0"/>
          </a:p>
        </p:txBody>
      </p:sp>
      <p:sp>
        <p:nvSpPr>
          <p:cNvPr id="23" name="card-50"/>
          <p:cNvSpPr/>
          <p:nvPr/>
        </p:nvSpPr>
        <p:spPr>
          <a:xfrm>
            <a:off x="4297680" y="2880360"/>
            <a:ext cx="34747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-51"/>
          <p:cNvSpPr/>
          <p:nvPr/>
        </p:nvSpPr>
        <p:spPr>
          <a:xfrm>
            <a:off x="4480560" y="31546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badge-text-52"/>
          <p:cNvSpPr txBox="1"/>
          <p:nvPr/>
        </p:nvSpPr>
        <p:spPr>
          <a:xfrm>
            <a:off x="448056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Н7</a:t>
            </a:r>
            <a:endParaRPr lang="en-US" sz="1000" dirty="0"/>
          </a:p>
        </p:txBody>
      </p:sp>
      <p:sp>
        <p:nvSpPr>
          <p:cNvPr id="26" name="text-53"/>
          <p:cNvSpPr txBox="1"/>
          <p:nvPr/>
        </p:nvSpPr>
        <p:spPr>
          <a:xfrm>
            <a:off x="5212080" y="3035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Продукции</a:t>
            </a:r>
            <a:endParaRPr lang="en-US" sz="1600" dirty="0"/>
          </a:p>
        </p:txBody>
      </p:sp>
      <p:sp>
        <p:nvSpPr>
          <p:cNvPr id="27" name="text-54"/>
          <p:cNvSpPr txBox="1"/>
          <p:nvPr/>
        </p:nvSpPr>
        <p:spPr>
          <a:xfrm>
            <a:off x="5212080" y="3401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прямой вывод, советы, флаги опасности</a:t>
            </a:r>
            <a:endParaRPr lang="en-US" sz="1200" dirty="0"/>
          </a:p>
        </p:txBody>
      </p:sp>
      <p:sp>
        <p:nvSpPr>
          <p:cNvPr id="28" name="card-55"/>
          <p:cNvSpPr/>
          <p:nvPr/>
        </p:nvSpPr>
        <p:spPr>
          <a:xfrm>
            <a:off x="8046720" y="2880360"/>
            <a:ext cx="34747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-56"/>
          <p:cNvSpPr/>
          <p:nvPr/>
        </p:nvSpPr>
        <p:spPr>
          <a:xfrm>
            <a:off x="8229600" y="31546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adge-text-57"/>
          <p:cNvSpPr txBox="1"/>
          <p:nvPr/>
        </p:nvSpPr>
        <p:spPr>
          <a:xfrm>
            <a:off x="822960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Н8–9</a:t>
            </a:r>
            <a:endParaRPr lang="en-US" sz="1000" dirty="0"/>
          </a:p>
        </p:txBody>
      </p:sp>
      <p:sp>
        <p:nvSpPr>
          <p:cNvPr id="31" name="text-58"/>
          <p:cNvSpPr txBox="1"/>
          <p:nvPr/>
        </p:nvSpPr>
        <p:spPr>
          <a:xfrm>
            <a:off x="8961120" y="3035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Фреймы</a:t>
            </a:r>
            <a:endParaRPr lang="en-US" sz="1600" dirty="0"/>
          </a:p>
        </p:txBody>
      </p:sp>
      <p:sp>
        <p:nvSpPr>
          <p:cNvPr id="32" name="text-59"/>
          <p:cNvSpPr txBox="1"/>
          <p:nvPr/>
        </p:nvSpPr>
        <p:spPr>
          <a:xfrm>
            <a:off x="8961120" y="3401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комплектующие, наследование, демоны</a:t>
            </a:r>
            <a:endParaRPr lang="en-US" sz="1200" dirty="0"/>
          </a:p>
        </p:txBody>
      </p:sp>
      <p:sp>
        <p:nvSpPr>
          <p:cNvPr id="33" name="card-60"/>
          <p:cNvSpPr/>
          <p:nvPr/>
        </p:nvSpPr>
        <p:spPr>
          <a:xfrm>
            <a:off x="548640" y="4114800"/>
            <a:ext cx="34747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-61"/>
          <p:cNvSpPr/>
          <p:nvPr/>
        </p:nvSpPr>
        <p:spPr>
          <a:xfrm>
            <a:off x="731520" y="4389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badge-text-62"/>
          <p:cNvSpPr txBox="1"/>
          <p:nvPr/>
        </p:nvSpPr>
        <p:spPr>
          <a:xfrm>
            <a:off x="7315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Н4, 10</a:t>
            </a:r>
            <a:endParaRPr lang="en-US" sz="1000" dirty="0"/>
          </a:p>
        </p:txBody>
      </p:sp>
      <p:sp>
        <p:nvSpPr>
          <p:cNvPr id="36" name="text-63"/>
          <p:cNvSpPr txBox="1"/>
          <p:nvPr/>
        </p:nvSpPr>
        <p:spPr>
          <a:xfrm>
            <a:off x="1463040" y="4270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Семантическая сеть</a:t>
            </a:r>
            <a:endParaRPr lang="en-US" sz="1600" dirty="0"/>
          </a:p>
        </p:txBody>
      </p:sp>
      <p:sp>
        <p:nvSpPr>
          <p:cNvPr id="37" name="text-64"/>
          <p:cNvSpPr txBox="1"/>
          <p:nvPr/>
        </p:nvSpPr>
        <p:spPr>
          <a:xfrm>
            <a:off x="1463040" y="4636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связи понятий, дифференциальный диагноз</a:t>
            </a:r>
            <a:endParaRPr lang="en-US" sz="1200" dirty="0"/>
          </a:p>
        </p:txBody>
      </p:sp>
      <p:sp>
        <p:nvSpPr>
          <p:cNvPr id="38" name="card-65"/>
          <p:cNvSpPr/>
          <p:nvPr/>
        </p:nvSpPr>
        <p:spPr>
          <a:xfrm>
            <a:off x="4297680" y="4114800"/>
            <a:ext cx="34747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badge-66"/>
          <p:cNvSpPr/>
          <p:nvPr/>
        </p:nvSpPr>
        <p:spPr>
          <a:xfrm>
            <a:off x="4480560" y="4389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badge-text-67"/>
          <p:cNvSpPr txBox="1"/>
          <p:nvPr/>
        </p:nvSpPr>
        <p:spPr>
          <a:xfrm>
            <a:off x="448056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Н11</a:t>
            </a:r>
            <a:endParaRPr lang="en-US" sz="1000" dirty="0"/>
          </a:p>
        </p:txBody>
      </p:sp>
      <p:sp>
        <p:nvSpPr>
          <p:cNvPr id="41" name="text-68"/>
          <p:cNvSpPr txBox="1"/>
          <p:nvPr/>
        </p:nvSpPr>
        <p:spPr>
          <a:xfrm>
            <a:off x="5212080" y="4270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Наивный Байес</a:t>
            </a:r>
            <a:endParaRPr lang="en-US" sz="1600" dirty="0"/>
          </a:p>
        </p:txBody>
      </p:sp>
      <p:sp>
        <p:nvSpPr>
          <p:cNvPr id="42" name="text-69"/>
          <p:cNvSpPr txBox="1"/>
          <p:nvPr/>
        </p:nvSpPr>
        <p:spPr>
          <a:xfrm>
            <a:off x="5212080" y="4636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вероятности, выбор вопроса</a:t>
            </a:r>
            <a:endParaRPr lang="en-US" sz="1200" dirty="0"/>
          </a:p>
        </p:txBody>
      </p:sp>
      <p:sp>
        <p:nvSpPr>
          <p:cNvPr id="43" name="card-70"/>
          <p:cNvSpPr/>
          <p:nvPr/>
        </p:nvSpPr>
        <p:spPr>
          <a:xfrm>
            <a:off x="8046720" y="4114800"/>
            <a:ext cx="34747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badge-71"/>
          <p:cNvSpPr/>
          <p:nvPr/>
        </p:nvSpPr>
        <p:spPr>
          <a:xfrm>
            <a:off x="8229600" y="4389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badge-text-72"/>
          <p:cNvSpPr txBox="1"/>
          <p:nvPr/>
        </p:nvSpPr>
        <p:spPr>
          <a:xfrm>
            <a:off x="822960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Н12</a:t>
            </a:r>
            <a:endParaRPr lang="en-US" sz="1000" dirty="0"/>
          </a:p>
        </p:txBody>
      </p:sp>
      <p:sp>
        <p:nvSpPr>
          <p:cNvPr id="46" name="text-73"/>
          <p:cNvSpPr txBox="1"/>
          <p:nvPr/>
        </p:nvSpPr>
        <p:spPr>
          <a:xfrm>
            <a:off x="8961120" y="4270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Нейросеть</a:t>
            </a:r>
            <a:endParaRPr lang="en-US" sz="1600" dirty="0"/>
          </a:p>
        </p:txBody>
      </p:sp>
      <p:sp>
        <p:nvSpPr>
          <p:cNvPr id="47" name="text-74"/>
          <p:cNvSpPr txBox="1"/>
          <p:nvPr/>
        </p:nvSpPr>
        <p:spPr>
          <a:xfrm>
            <a:off x="8961120" y="4636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MLP 20→32→16→8</a:t>
            </a:r>
            <a:endParaRPr lang="en-US" sz="1200" dirty="0"/>
          </a:p>
        </p:txBody>
      </p:sp>
      <p:sp>
        <p:nvSpPr>
          <p:cNvPr id="48" name="card-75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9" name="text-76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Единая база знаний knowledge.json: компоненты · признаки · неисправности · P(признак | неисправность) · шаги устранения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 и семантическая сеть</a:t>
            </a:r>
            <a:endParaRPr lang="en-US" sz="3400" dirty="0"/>
          </a:p>
        </p:txBody>
      </p:sp>
      <p:sp>
        <p:nvSpPr>
          <p:cNvPr id="3" name="card-77"/>
          <p:cNvSpPr/>
          <p:nvPr/>
        </p:nvSpPr>
        <p:spPr>
          <a:xfrm>
            <a:off x="548640" y="1325880"/>
            <a:ext cx="63093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ne-78"/>
          <p:cNvSpPr/>
          <p:nvPr/>
        </p:nvSpPr>
        <p:spPr>
          <a:xfrm>
            <a:off x="1828800" y="2103120"/>
            <a:ext cx="1783080" cy="16002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5" name="line-79"/>
          <p:cNvSpPr/>
          <p:nvPr/>
        </p:nvSpPr>
        <p:spPr>
          <a:xfrm flipH="1">
            <a:off x="3611880" y="2103120"/>
            <a:ext cx="1783080" cy="16002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6" name="line-80"/>
          <p:cNvSpPr/>
          <p:nvPr/>
        </p:nvSpPr>
        <p:spPr>
          <a:xfrm flipH="1">
            <a:off x="1600200" y="3703320"/>
            <a:ext cx="201168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7" name="line-81"/>
          <p:cNvSpPr/>
          <p:nvPr/>
        </p:nvSpPr>
        <p:spPr>
          <a:xfrm>
            <a:off x="3611880" y="3703320"/>
            <a:ext cx="201168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8" name="line-82"/>
          <p:cNvSpPr/>
          <p:nvPr/>
        </p:nvSpPr>
        <p:spPr>
          <a:xfrm flipH="1">
            <a:off x="2011680" y="3703320"/>
            <a:ext cx="1600200" cy="1783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9" name="line-83"/>
          <p:cNvSpPr/>
          <p:nvPr/>
        </p:nvSpPr>
        <p:spPr>
          <a:xfrm>
            <a:off x="3611880" y="3703320"/>
            <a:ext cx="1691640" cy="1783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0" name="net-node-84"/>
          <p:cNvSpPr/>
          <p:nvPr/>
        </p:nvSpPr>
        <p:spPr>
          <a:xfrm>
            <a:off x="960120" y="1856232"/>
            <a:ext cx="1737360" cy="49377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-85"/>
          <p:cNvSpPr txBox="1"/>
          <p:nvPr/>
        </p:nvSpPr>
        <p:spPr>
          <a:xfrm>
            <a:off x="960120" y="18562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Щелчки диска</a:t>
            </a:r>
            <a:endParaRPr lang="en-US" sz="1100" dirty="0"/>
          </a:p>
        </p:txBody>
      </p:sp>
      <p:sp>
        <p:nvSpPr>
          <p:cNvPr id="12" name="text-86"/>
          <p:cNvSpPr txBox="1"/>
          <p:nvPr/>
        </p:nvSpPr>
        <p:spPr>
          <a:xfrm>
            <a:off x="2171700" y="2775204"/>
            <a:ext cx="1097280" cy="256032"/>
          </a:xfrm>
          <a:prstGeom prst="rect">
            <a:avLst/>
          </a:prstGeom>
          <a:solidFill>
            <a:srgbClr val="EEF5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проявляется</a:t>
            </a:r>
            <a:endParaRPr lang="en-US" sz="1000" dirty="0"/>
          </a:p>
        </p:txBody>
      </p:sp>
      <p:sp>
        <p:nvSpPr>
          <p:cNvPr id="13" name="net-node-87"/>
          <p:cNvSpPr/>
          <p:nvPr/>
        </p:nvSpPr>
        <p:spPr>
          <a:xfrm>
            <a:off x="4526280" y="1856232"/>
            <a:ext cx="1737360" cy="49377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-88"/>
          <p:cNvSpPr txBox="1"/>
          <p:nvPr/>
        </p:nvSpPr>
        <p:spPr>
          <a:xfrm>
            <a:off x="4526280" y="18562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Повреждение файлов</a:t>
            </a:r>
            <a:endParaRPr lang="en-US" sz="1100" dirty="0"/>
          </a:p>
        </p:txBody>
      </p:sp>
      <p:sp>
        <p:nvSpPr>
          <p:cNvPr id="15" name="text-89"/>
          <p:cNvSpPr txBox="1"/>
          <p:nvPr/>
        </p:nvSpPr>
        <p:spPr>
          <a:xfrm>
            <a:off x="3954780" y="2775204"/>
            <a:ext cx="1097280" cy="256032"/>
          </a:xfrm>
          <a:prstGeom prst="rect">
            <a:avLst/>
          </a:prstGeom>
          <a:solidFill>
            <a:srgbClr val="EEF5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проявляется</a:t>
            </a:r>
            <a:endParaRPr lang="en-US" sz="1000" dirty="0"/>
          </a:p>
        </p:txBody>
      </p:sp>
      <p:sp>
        <p:nvSpPr>
          <p:cNvPr id="16" name="net-node-90"/>
          <p:cNvSpPr/>
          <p:nvPr/>
        </p:nvSpPr>
        <p:spPr>
          <a:xfrm>
            <a:off x="731520" y="3456432"/>
            <a:ext cx="1737360" cy="49377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-91"/>
          <p:cNvSpPr txBox="1"/>
          <p:nvPr/>
        </p:nvSpPr>
        <p:spPr>
          <a:xfrm>
            <a:off x="731520" y="34564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Накопитель</a:t>
            </a:r>
            <a:endParaRPr lang="en-US" sz="1100" dirty="0"/>
          </a:p>
        </p:txBody>
      </p:sp>
      <p:sp>
        <p:nvSpPr>
          <p:cNvPr id="18" name="text-92"/>
          <p:cNvSpPr txBox="1"/>
          <p:nvPr/>
        </p:nvSpPr>
        <p:spPr>
          <a:xfrm>
            <a:off x="2148840" y="3986784"/>
            <a:ext cx="914400" cy="256032"/>
          </a:xfrm>
          <a:prstGeom prst="rect">
            <a:avLst/>
          </a:prstGeom>
          <a:solidFill>
            <a:srgbClr val="EEF5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поражает</a:t>
            </a:r>
            <a:endParaRPr lang="en-US" sz="1000" dirty="0"/>
          </a:p>
        </p:txBody>
      </p:sp>
      <p:sp>
        <p:nvSpPr>
          <p:cNvPr id="19" name="net-node-93"/>
          <p:cNvSpPr/>
          <p:nvPr/>
        </p:nvSpPr>
        <p:spPr>
          <a:xfrm>
            <a:off x="4754880" y="3456432"/>
            <a:ext cx="1737360" cy="49377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-94"/>
          <p:cNvSpPr txBox="1"/>
          <p:nvPr/>
        </p:nvSpPr>
        <p:spPr>
          <a:xfrm>
            <a:off x="4754880" y="34564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Синий экран</a:t>
            </a:r>
            <a:endParaRPr lang="en-US" sz="1100" dirty="0"/>
          </a:p>
        </p:txBody>
      </p:sp>
      <p:sp>
        <p:nvSpPr>
          <p:cNvPr id="21" name="text-95"/>
          <p:cNvSpPr txBox="1"/>
          <p:nvPr/>
        </p:nvSpPr>
        <p:spPr>
          <a:xfrm>
            <a:off x="4160520" y="3986784"/>
            <a:ext cx="914400" cy="256032"/>
          </a:xfrm>
          <a:prstGeom prst="rect">
            <a:avLst/>
          </a:prstGeom>
          <a:solidFill>
            <a:srgbClr val="EEF5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проявляется</a:t>
            </a:r>
            <a:endParaRPr lang="en-US" sz="1000" dirty="0"/>
          </a:p>
        </p:txBody>
      </p:sp>
      <p:sp>
        <p:nvSpPr>
          <p:cNvPr id="22" name="net-node-96"/>
          <p:cNvSpPr/>
          <p:nvPr/>
        </p:nvSpPr>
        <p:spPr>
          <a:xfrm>
            <a:off x="1143000" y="5239512"/>
            <a:ext cx="1737360" cy="49377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-97"/>
          <p:cNvSpPr txBox="1"/>
          <p:nvPr/>
        </p:nvSpPr>
        <p:spPr>
          <a:xfrm>
            <a:off x="1143000" y="523951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Аппаратная неиспр.</a:t>
            </a:r>
            <a:endParaRPr lang="en-US" sz="1100" dirty="0"/>
          </a:p>
        </p:txBody>
      </p:sp>
      <p:sp>
        <p:nvSpPr>
          <p:cNvPr id="24" name="text-98"/>
          <p:cNvSpPr txBox="1"/>
          <p:nvPr/>
        </p:nvSpPr>
        <p:spPr>
          <a:xfrm>
            <a:off x="2263140" y="4466844"/>
            <a:ext cx="1097280" cy="256032"/>
          </a:xfrm>
          <a:prstGeom prst="rect">
            <a:avLst/>
          </a:prstGeom>
          <a:solidFill>
            <a:srgbClr val="EEF5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является</a:t>
            </a:r>
            <a:endParaRPr lang="en-US" sz="1000" dirty="0"/>
          </a:p>
        </p:txBody>
      </p:sp>
      <p:sp>
        <p:nvSpPr>
          <p:cNvPr id="25" name="net-node-99"/>
          <p:cNvSpPr/>
          <p:nvPr/>
        </p:nvSpPr>
        <p:spPr>
          <a:xfrm>
            <a:off x="4434840" y="5239512"/>
            <a:ext cx="1737360" cy="493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-100"/>
          <p:cNvSpPr txBox="1"/>
          <p:nvPr/>
        </p:nvSpPr>
        <p:spPr>
          <a:xfrm>
            <a:off x="4434840" y="523951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Замена накопителя</a:t>
            </a:r>
            <a:endParaRPr lang="en-US" sz="1100" dirty="0"/>
          </a:p>
        </p:txBody>
      </p:sp>
      <p:sp>
        <p:nvSpPr>
          <p:cNvPr id="27" name="text-101"/>
          <p:cNvSpPr txBox="1"/>
          <p:nvPr/>
        </p:nvSpPr>
        <p:spPr>
          <a:xfrm>
            <a:off x="3909060" y="4466844"/>
            <a:ext cx="1097280" cy="256032"/>
          </a:xfrm>
          <a:prstGeom prst="rect">
            <a:avLst/>
          </a:prstGeom>
          <a:solidFill>
            <a:srgbClr val="EEF5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устраняется</a:t>
            </a:r>
            <a:endParaRPr lang="en-US" sz="1000" dirty="0"/>
          </a:p>
        </p:txBody>
      </p:sp>
      <p:sp>
        <p:nvSpPr>
          <p:cNvPr id="28" name="center-102"/>
          <p:cNvSpPr/>
          <p:nvPr/>
        </p:nvSpPr>
        <p:spPr>
          <a:xfrm>
            <a:off x="2743200" y="3246120"/>
            <a:ext cx="173736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-103"/>
          <p:cNvSpPr txBox="1"/>
          <p:nvPr/>
        </p:nvSpPr>
        <p:spPr>
          <a:xfrm>
            <a:off x="274320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Отказ накопителя</a:t>
            </a:r>
            <a:endParaRPr lang="en-US" sz="1300" dirty="0"/>
          </a:p>
        </p:txBody>
      </p:sp>
      <p:sp>
        <p:nvSpPr>
          <p:cNvPr id="30" name="text-104"/>
          <p:cNvSpPr txBox="1"/>
          <p:nvPr/>
        </p:nvSpPr>
        <p:spPr>
          <a:xfrm>
            <a:off x="7315200" y="1280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4800" dirty="0"/>
          </a:p>
        </p:txBody>
      </p:sp>
      <p:sp>
        <p:nvSpPr>
          <p:cNvPr id="31" name="text-105"/>
          <p:cNvSpPr txBox="1"/>
          <p:nvPr/>
        </p:nvSpPr>
        <p:spPr>
          <a:xfrm>
            <a:off x="731520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узлов</a:t>
            </a:r>
            <a:endParaRPr lang="en-US" sz="1400" dirty="0"/>
          </a:p>
        </p:txBody>
      </p:sp>
      <p:sp>
        <p:nvSpPr>
          <p:cNvPr id="32" name="text-106"/>
          <p:cNvSpPr txBox="1"/>
          <p:nvPr/>
        </p:nvSpPr>
        <p:spPr>
          <a:xfrm>
            <a:off x="9509760" y="1280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4800" dirty="0"/>
          </a:p>
        </p:txBody>
      </p:sp>
      <p:sp>
        <p:nvSpPr>
          <p:cNvPr id="33" name="text-107"/>
          <p:cNvSpPr txBox="1"/>
          <p:nvPr/>
        </p:nvSpPr>
        <p:spPr>
          <a:xfrm>
            <a:off x="950976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дуги, 6 отношений</a:t>
            </a:r>
            <a:endParaRPr lang="en-US" sz="1400" dirty="0"/>
          </a:p>
        </p:txBody>
      </p:sp>
      <p:sp>
        <p:nvSpPr>
          <p:cNvPr id="34" name="text-108"/>
          <p:cNvSpPr txBox="1"/>
          <p:nvPr/>
        </p:nvSpPr>
        <p:spPr>
          <a:xfrm>
            <a:off x="731520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Поиск связанных объектов</a:t>
            </a:r>
            <a:endParaRPr lang="en-US" sz="1800" dirty="0"/>
          </a:p>
        </p:txBody>
      </p:sp>
      <p:sp>
        <p:nvSpPr>
          <p:cNvPr id="35" name="text-109"/>
          <p:cNvSpPr txBox="1"/>
          <p:nvPr/>
        </p:nvSpPr>
        <p:spPr>
          <a:xfrm>
            <a:off x="7315200" y="329184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Шаблон триплета: (?, проявляется, BSOD)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Поиск в ширину с путём до каждого узла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Кратчайшая цепочка между понятиями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Наследование связей по is_a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Распространение активации: признаки → неисправности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Логический вывод: AND, OR, NOT</a:t>
            </a:r>
            <a:endParaRPr lang="en-US" sz="3400" dirty="0"/>
          </a:p>
        </p:txBody>
      </p:sp>
      <p:sp>
        <p:nvSpPr>
          <p:cNvPr id="3" name="card-110"/>
          <p:cNvSpPr/>
          <p:nvPr/>
        </p:nvSpPr>
        <p:spPr>
          <a:xfrm>
            <a:off x="548640" y="1325880"/>
            <a:ext cx="6035040" cy="288036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111"/>
          <p:cNvSpPr txBox="1"/>
          <p:nvPr/>
        </p:nvSpPr>
        <p:spPr>
          <a:xfrm>
            <a:off x="777240" y="155448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kind_of(X, Z) :- is_a(X, Y), kind_of(Y, Z).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hardware_fault(F) :- affects(F, C),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kind_of(C, hardware_component).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diagnosis(gpu_failure) :-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symptom(artifacts_screen),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symptom(after_update).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diagnosis(psu_failure) :- symptom(no_power),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(symptom(fans_not_spin) ; symptom(burning_smell)).</a:t>
            </a:r>
            <a:endParaRPr lang="en-US" sz="1400" dirty="0"/>
          </a:p>
        </p:txBody>
      </p:sp>
      <p:sp>
        <p:nvSpPr>
          <p:cNvPr id="5" name="badge-112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text-113"/>
          <p:cNvSpPr txBox="1"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-114"/>
          <p:cNvSpPr txBox="1"/>
          <p:nvPr/>
        </p:nvSpPr>
        <p:spPr>
          <a:xfrm>
            <a:off x="1097280" y="4416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Унификация</a:t>
            </a:r>
            <a:endParaRPr lang="en-US" sz="1500" dirty="0"/>
          </a:p>
        </p:txBody>
      </p:sp>
      <p:sp>
        <p:nvSpPr>
          <p:cNvPr id="8" name="text-115"/>
          <p:cNvSpPr txBox="1"/>
          <p:nvPr/>
        </p:nvSpPr>
        <p:spPr>
          <a:xfrm>
            <a:off x="3291840" y="44165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переменные X, Y, Z связываются с константами, как в Prolog</a:t>
            </a:r>
            <a:endParaRPr lang="en-US" sz="1200" dirty="0"/>
          </a:p>
        </p:txBody>
      </p:sp>
      <p:sp>
        <p:nvSpPr>
          <p:cNvPr id="9" name="badge-116"/>
          <p:cNvSpPr/>
          <p:nvPr/>
        </p:nvSpPr>
        <p:spPr>
          <a:xfrm>
            <a:off x="548640" y="50017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117"/>
          <p:cNvSpPr txBox="1"/>
          <p:nvPr/>
        </p:nvSpPr>
        <p:spPr>
          <a:xfrm>
            <a:off x="54864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-118"/>
          <p:cNvSpPr txBox="1"/>
          <p:nvPr/>
        </p:nvSpPr>
        <p:spPr>
          <a:xfrm>
            <a:off x="1097280" y="4983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Обратный вывод</a:t>
            </a:r>
            <a:endParaRPr lang="en-US" sz="1500" dirty="0"/>
          </a:p>
        </p:txBody>
      </p:sp>
      <p:sp>
        <p:nvSpPr>
          <p:cNvPr id="12" name="text-119"/>
          <p:cNvSpPr txBox="1"/>
          <p:nvPr/>
        </p:nvSpPr>
        <p:spPr>
          <a:xfrm>
            <a:off x="3291840" y="4983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SLD-резолюция: от цели к фактам с перебором с возвратом</a:t>
            </a:r>
            <a:endParaRPr lang="en-US" sz="1200" dirty="0"/>
          </a:p>
        </p:txBody>
      </p:sp>
      <p:sp>
        <p:nvSpPr>
          <p:cNvPr id="13" name="badge-120"/>
          <p:cNvSpPr/>
          <p:nvPr/>
        </p:nvSpPr>
        <p:spPr>
          <a:xfrm>
            <a:off x="548640" y="55686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adge-text-121"/>
          <p:cNvSpPr txBox="1"/>
          <p:nvPr/>
        </p:nvSpPr>
        <p:spPr>
          <a:xfrm>
            <a:off x="548640" y="5568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-122"/>
          <p:cNvSpPr txBox="1"/>
          <p:nvPr/>
        </p:nvSpPr>
        <p:spPr>
          <a:xfrm>
            <a:off x="1097280" y="55504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Отрицание как неудача</a:t>
            </a:r>
            <a:endParaRPr lang="en-US" sz="1500" dirty="0"/>
          </a:p>
        </p:txBody>
      </p:sp>
      <p:sp>
        <p:nvSpPr>
          <p:cNvPr id="16" name="text-123"/>
          <p:cNvSpPr txBox="1"/>
          <p:nvPr/>
        </p:nvSpPr>
        <p:spPr>
          <a:xfrm>
            <a:off x="3291840" y="5550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P истинно, если P не выводится (замкнутый мир)</a:t>
            </a:r>
            <a:endParaRPr lang="en-US" sz="1200" dirty="0"/>
          </a:p>
        </p:txBody>
      </p:sp>
      <p:sp>
        <p:nvSpPr>
          <p:cNvPr id="17" name="card-124"/>
          <p:cNvSpPr/>
          <p:nvPr/>
        </p:nvSpPr>
        <p:spPr>
          <a:xfrm>
            <a:off x="6949440" y="1325880"/>
            <a:ext cx="4663440" cy="48006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-125"/>
          <p:cNvSpPr txBox="1"/>
          <p:nvPr/>
        </p:nvSpPr>
        <p:spPr>
          <a:xfrm>
            <a:off x="71780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Объяснение «как?»</a:t>
            </a:r>
            <a:endParaRPr lang="en-US" sz="1700" dirty="0"/>
          </a:p>
        </p:txBody>
      </p:sp>
      <p:sp>
        <p:nvSpPr>
          <p:cNvPr id="19" name="text-126"/>
          <p:cNvSpPr txBox="1"/>
          <p:nvPr/>
        </p:nvSpPr>
        <p:spPr>
          <a:xfrm>
            <a:off x="7178040" y="18745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diagnosis(psu_failure)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symptom(no_power) — факт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ИЛИ: альтернатива 2 из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symptom(burning_smell) — факт</a:t>
            </a:r>
            <a:endParaRPr lang="en-US" sz="1200" dirty="0"/>
          </a:p>
        </p:txBody>
      </p:sp>
      <p:sp>
        <p:nvSpPr>
          <p:cNvPr id="20" name="text-127"/>
          <p:cNvSpPr txBox="1"/>
          <p:nvPr/>
        </p:nvSpPr>
        <p:spPr>
          <a:xfrm>
            <a:off x="717804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Объяснение «почему нет?»</a:t>
            </a:r>
            <a:endParaRPr lang="en-US" sz="1700" dirty="0"/>
          </a:p>
        </p:txBody>
      </p:sp>
      <p:sp>
        <p:nvSpPr>
          <p:cNvPr id="21" name="text-128"/>
          <p:cNvSpPr txBox="1"/>
          <p:nvPr/>
        </p:nvSpPr>
        <p:spPr>
          <a:xfrm>
            <a:off x="7178040" y="38404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diagnosis(gpu_failure) не выводится: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symptom(artifacts_screen)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4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✘ НЕ symptom(after_update)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— но это утверждение выводится</a:t>
            </a:r>
            <a:endParaRPr lang="en-US" sz="1200" dirty="0"/>
          </a:p>
        </p:txBody>
      </p:sp>
      <p:sp>
        <p:nvSpPr>
          <p:cNvPr id="22" name="text-129"/>
          <p:cNvSpPr txBox="1"/>
          <p:nvPr/>
        </p:nvSpPr>
        <p:spPr>
          <a:xfrm>
            <a:off x="7178040" y="5532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38 фактов · 23 правила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Продукционная система: прямой вывод</a:t>
            </a:r>
            <a:endParaRPr lang="en-US" sz="3400" dirty="0"/>
          </a:p>
        </p:txBody>
      </p:sp>
      <p:sp>
        <p:nvSpPr>
          <p:cNvPr id="3" name="card-130"/>
          <p:cNvSpPr/>
          <p:nvPr/>
        </p:nvSpPr>
        <p:spPr>
          <a:xfrm>
            <a:off x="548640" y="1325880"/>
            <a:ext cx="67665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31"/>
          <p:cNvSpPr/>
          <p:nvPr/>
        </p:nvSpPr>
        <p:spPr>
          <a:xfrm>
            <a:off x="685800" y="1399032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-text-132"/>
          <p:cNvSpPr txBox="1"/>
          <p:nvPr/>
        </p:nvSpPr>
        <p:spPr>
          <a:xfrm>
            <a:off x="685800" y="1399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100</a:t>
            </a:r>
            <a:endParaRPr lang="en-US" sz="1200" dirty="0"/>
          </a:p>
        </p:txBody>
      </p:sp>
      <p:sp>
        <p:nvSpPr>
          <p:cNvPr id="6" name="text-133"/>
          <p:cNvSpPr txBox="1"/>
          <p:nvPr/>
        </p:nvSpPr>
        <p:spPr>
          <a:xfrm>
            <a:off x="1371600" y="13258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Безопасность</a:t>
            </a:r>
            <a:endParaRPr lang="en-US" sz="1600" dirty="0"/>
          </a:p>
        </p:txBody>
      </p:sp>
      <p:sp>
        <p:nvSpPr>
          <p:cNvPr id="7" name="text-134"/>
          <p:cNvSpPr txBox="1"/>
          <p:nvPr/>
        </p:nvSpPr>
        <p:spPr>
          <a:xfrm>
            <a:off x="3474720" y="13258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запах гари → опасность → «отключите от сети»</a:t>
            </a:r>
            <a:endParaRPr lang="en-US" sz="1300" dirty="0"/>
          </a:p>
        </p:txBody>
      </p:sp>
      <p:sp>
        <p:nvSpPr>
          <p:cNvPr id="8" name="card-135"/>
          <p:cNvSpPr/>
          <p:nvPr/>
        </p:nvSpPr>
        <p:spPr>
          <a:xfrm>
            <a:off x="548640" y="2112264"/>
            <a:ext cx="67665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136"/>
          <p:cNvSpPr/>
          <p:nvPr/>
        </p:nvSpPr>
        <p:spPr>
          <a:xfrm>
            <a:off x="685800" y="2185416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-text-137"/>
          <p:cNvSpPr txBox="1"/>
          <p:nvPr/>
        </p:nvSpPr>
        <p:spPr>
          <a:xfrm>
            <a:off x="685800" y="2185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40</a:t>
            </a:r>
            <a:endParaRPr lang="en-US" sz="1200" dirty="0"/>
          </a:p>
        </p:txBody>
      </p:sp>
      <p:sp>
        <p:nvSpPr>
          <p:cNvPr id="11" name="text-138"/>
          <p:cNvSpPr txBox="1"/>
          <p:nvPr/>
        </p:nvSpPr>
        <p:spPr>
          <a:xfrm>
            <a:off x="1371600" y="21122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Признаки → зона</a:t>
            </a:r>
            <a:endParaRPr lang="en-US" sz="1600" dirty="0"/>
          </a:p>
        </p:txBody>
      </p:sp>
      <p:sp>
        <p:nvSpPr>
          <p:cNvPr id="12" name="text-139"/>
          <p:cNvSpPr txBox="1"/>
          <p:nvPr/>
        </p:nvSpPr>
        <p:spPr>
          <a:xfrm>
            <a:off x="3474720" y="21122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не включается → зона «питание»</a:t>
            </a:r>
            <a:endParaRPr lang="en-US" sz="1300" dirty="0"/>
          </a:p>
        </p:txBody>
      </p:sp>
      <p:sp>
        <p:nvSpPr>
          <p:cNvPr id="13" name="card-140"/>
          <p:cNvSpPr/>
          <p:nvPr/>
        </p:nvSpPr>
        <p:spPr>
          <a:xfrm>
            <a:off x="548640" y="2898648"/>
            <a:ext cx="67665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141"/>
          <p:cNvSpPr/>
          <p:nvPr/>
        </p:nvSpPr>
        <p:spPr>
          <a:xfrm>
            <a:off x="685800" y="297180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-text-142"/>
          <p:cNvSpPr txBox="1"/>
          <p:nvPr/>
        </p:nvSpPr>
        <p:spPr>
          <a:xfrm>
            <a:off x="68580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30</a:t>
            </a:r>
            <a:endParaRPr lang="en-US" sz="1200" dirty="0"/>
          </a:p>
        </p:txBody>
      </p:sp>
      <p:sp>
        <p:nvSpPr>
          <p:cNvPr id="16" name="text-143"/>
          <p:cNvSpPr txBox="1"/>
          <p:nvPr/>
        </p:nvSpPr>
        <p:spPr>
          <a:xfrm>
            <a:off x="1371600" y="2898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Зона → диагноз</a:t>
            </a:r>
            <a:endParaRPr lang="en-US" sz="1600" dirty="0"/>
          </a:p>
        </p:txBody>
      </p:sp>
      <p:sp>
        <p:nvSpPr>
          <p:cNvPr id="17" name="text-144"/>
          <p:cNvSpPr txBox="1"/>
          <p:nvPr/>
        </p:nvSpPr>
        <p:spPr>
          <a:xfrm>
            <a:off x="3474720" y="28986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питание + не крутятся вентиляторы → БП</a:t>
            </a:r>
            <a:endParaRPr lang="en-US" sz="1300" dirty="0"/>
          </a:p>
        </p:txBody>
      </p:sp>
      <p:sp>
        <p:nvSpPr>
          <p:cNvPr id="18" name="card-145"/>
          <p:cNvSpPr/>
          <p:nvPr/>
        </p:nvSpPr>
        <p:spPr>
          <a:xfrm>
            <a:off x="548640" y="3685032"/>
            <a:ext cx="67665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146"/>
          <p:cNvSpPr/>
          <p:nvPr/>
        </p:nvSpPr>
        <p:spPr>
          <a:xfrm>
            <a:off x="685800" y="3758184"/>
            <a:ext cx="512064" cy="51206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badge-text-147"/>
          <p:cNvSpPr txBox="1"/>
          <p:nvPr/>
        </p:nvSpPr>
        <p:spPr>
          <a:xfrm>
            <a:off x="685800" y="3758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</a:t>
            </a:r>
            <a:endParaRPr lang="en-US" sz="1200" dirty="0"/>
          </a:p>
        </p:txBody>
      </p:sp>
      <p:sp>
        <p:nvSpPr>
          <p:cNvPr id="21" name="text-148"/>
          <p:cNvSpPr txBox="1"/>
          <p:nvPr/>
        </p:nvSpPr>
        <p:spPr>
          <a:xfrm>
            <a:off x="1371600" y="36850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Тип и флаги</a:t>
            </a:r>
            <a:endParaRPr lang="en-US" sz="1600" dirty="0"/>
          </a:p>
        </p:txBody>
      </p:sp>
      <p:sp>
        <p:nvSpPr>
          <p:cNvPr id="22" name="text-149"/>
          <p:cNvSpPr txBox="1"/>
          <p:nvPr/>
        </p:nvSpPr>
        <p:spPr>
          <a:xfrm>
            <a:off x="3474720" y="36850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диагноз → аппаратная, нужна копия данных</a:t>
            </a:r>
            <a:endParaRPr lang="en-US" sz="1300" dirty="0"/>
          </a:p>
        </p:txBody>
      </p:sp>
      <p:sp>
        <p:nvSpPr>
          <p:cNvPr id="23" name="card-150"/>
          <p:cNvSpPr/>
          <p:nvPr/>
        </p:nvSpPr>
        <p:spPr>
          <a:xfrm>
            <a:off x="548640" y="4471416"/>
            <a:ext cx="67665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-151"/>
          <p:cNvSpPr/>
          <p:nvPr/>
        </p:nvSpPr>
        <p:spPr>
          <a:xfrm>
            <a:off x="685800" y="454456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badge-text-152"/>
          <p:cNvSpPr txBox="1"/>
          <p:nvPr/>
        </p:nvSpPr>
        <p:spPr>
          <a:xfrm>
            <a:off x="685800" y="4544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26" name="text-153"/>
          <p:cNvSpPr txBox="1"/>
          <p:nvPr/>
        </p:nvSpPr>
        <p:spPr>
          <a:xfrm>
            <a:off x="1371600" y="44714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Советы</a:t>
            </a:r>
            <a:endParaRPr lang="en-US" sz="1600" dirty="0"/>
          </a:p>
        </p:txBody>
      </p:sp>
      <p:sp>
        <p:nvSpPr>
          <p:cNvPr id="27" name="text-154"/>
          <p:cNvSpPr txBox="1"/>
          <p:nvPr/>
        </p:nvSpPr>
        <p:spPr>
          <a:xfrm>
            <a:off x="3474720" y="44714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сервисный центр / исправить самому</a:t>
            </a:r>
            <a:endParaRPr lang="en-US" sz="1300" dirty="0"/>
          </a:p>
        </p:txBody>
      </p:sp>
      <p:sp>
        <p:nvSpPr>
          <p:cNvPr id="28" name="text-155"/>
          <p:cNvSpPr txBox="1"/>
          <p:nvPr/>
        </p:nvSpPr>
        <p:spPr>
          <a:xfrm>
            <a:off x="548640" y="5349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Число в круге — приоритет правила: сначала выводятся все зоны, затем диагнозы и только потом советы</a:t>
            </a:r>
            <a:endParaRPr lang="en-US" sz="1300" dirty="0"/>
          </a:p>
        </p:txBody>
      </p:sp>
      <p:sp>
        <p:nvSpPr>
          <p:cNvPr id="29" name="text-156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Цикл «распознавание — действие»</a:t>
            </a:r>
            <a:endParaRPr lang="en-US" sz="1800" dirty="0"/>
          </a:p>
        </p:txBody>
      </p:sp>
      <p:sp>
        <p:nvSpPr>
          <p:cNvPr id="30" name="badge-157"/>
          <p:cNvSpPr/>
          <p:nvPr/>
        </p:nvSpPr>
        <p:spPr>
          <a:xfrm>
            <a:off x="777240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badge-text-158"/>
          <p:cNvSpPr txBox="1"/>
          <p:nvPr/>
        </p:nvSpPr>
        <p:spPr>
          <a:xfrm>
            <a:off x="77724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32" name="text-159"/>
          <p:cNvSpPr txBox="1"/>
          <p:nvPr/>
        </p:nvSpPr>
        <p:spPr>
          <a:xfrm>
            <a:off x="832104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Сопоставление: правила, условия которых выполнены</a:t>
            </a:r>
            <a:endParaRPr lang="en-US" sz="1400" dirty="0"/>
          </a:p>
        </p:txBody>
      </p:sp>
      <p:sp>
        <p:nvSpPr>
          <p:cNvPr id="33" name="badge-160"/>
          <p:cNvSpPr/>
          <p:nvPr/>
        </p:nvSpPr>
        <p:spPr>
          <a:xfrm>
            <a:off x="7772400" y="254203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badge-text-161"/>
          <p:cNvSpPr txBox="1"/>
          <p:nvPr/>
        </p:nvSpPr>
        <p:spPr>
          <a:xfrm>
            <a:off x="777240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text-162"/>
          <p:cNvSpPr txBox="1"/>
          <p:nvPr/>
        </p:nvSpPr>
        <p:spPr>
          <a:xfrm>
            <a:off x="8321040" y="24963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Разрешение конфликта: приоритет → специфичность</a:t>
            </a:r>
            <a:endParaRPr lang="en-US" sz="1400" dirty="0"/>
          </a:p>
        </p:txBody>
      </p:sp>
      <p:sp>
        <p:nvSpPr>
          <p:cNvPr id="36" name="badge-163"/>
          <p:cNvSpPr/>
          <p:nvPr/>
        </p:nvSpPr>
        <p:spPr>
          <a:xfrm>
            <a:off x="7772400" y="325526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badge-text-164"/>
          <p:cNvSpPr txBox="1"/>
          <p:nvPr/>
        </p:nvSpPr>
        <p:spPr>
          <a:xfrm>
            <a:off x="777240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8" name="text-165"/>
          <p:cNvSpPr txBox="1"/>
          <p:nvPr/>
        </p:nvSpPr>
        <p:spPr>
          <a:xfrm>
            <a:off x="8321040" y="32095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Срабатывание: новые факты в рабочую память</a:t>
            </a:r>
            <a:endParaRPr lang="en-US" sz="1400" dirty="0"/>
          </a:p>
        </p:txBody>
      </p:sp>
      <p:sp>
        <p:nvSpPr>
          <p:cNvPr id="39" name="badge-166"/>
          <p:cNvSpPr/>
          <p:nvPr/>
        </p:nvSpPr>
        <p:spPr>
          <a:xfrm>
            <a:off x="7772400" y="396849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badge-text-167"/>
          <p:cNvSpPr txBox="1"/>
          <p:nvPr/>
        </p:nvSpPr>
        <p:spPr>
          <a:xfrm>
            <a:off x="777240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1" name="text-168"/>
          <p:cNvSpPr txBox="1"/>
          <p:nvPr/>
        </p:nvSpPr>
        <p:spPr>
          <a:xfrm>
            <a:off x="8321040" y="39227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Повтор, пока агенда не пуста</a:t>
            </a:r>
            <a:endParaRPr lang="en-US" sz="1400" dirty="0"/>
          </a:p>
        </p:txBody>
      </p:sp>
      <p:sp>
        <p:nvSpPr>
          <p:cNvPr id="42" name="text-169"/>
          <p:cNvSpPr txBox="1"/>
          <p:nvPr/>
        </p:nvSpPr>
        <p:spPr>
          <a:xfrm>
            <a:off x="7772400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4800" dirty="0"/>
          </a:p>
        </p:txBody>
      </p:sp>
      <p:sp>
        <p:nvSpPr>
          <p:cNvPr id="43" name="text-170"/>
          <p:cNvSpPr txBox="1"/>
          <p:nvPr/>
        </p:nvSpPr>
        <p:spPr>
          <a:xfrm>
            <a:off x="7772400" y="5440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продукция</a:t>
            </a:r>
            <a:endParaRPr lang="en-US" sz="1400" dirty="0"/>
          </a:p>
        </p:txBody>
      </p:sp>
      <p:sp>
        <p:nvSpPr>
          <p:cNvPr id="44" name="text-171"/>
          <p:cNvSpPr txBox="1"/>
          <p:nvPr/>
        </p:nvSpPr>
        <p:spPr>
          <a:xfrm>
            <a:off x="9692640" y="4572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45" name="text-172"/>
          <p:cNvSpPr txBox="1"/>
          <p:nvPr/>
        </p:nvSpPr>
        <p:spPr>
          <a:xfrm>
            <a:off x="9692640" y="5440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стратегии разрешения конфликтов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Фреймы: наследование и демоны</a:t>
            </a:r>
            <a:endParaRPr lang="en-US" sz="3400" dirty="0"/>
          </a:p>
        </p:txBody>
      </p:sp>
      <p:sp>
        <p:nvSpPr>
          <p:cNvPr id="3" name="card-173"/>
          <p:cNvSpPr/>
          <p:nvPr/>
        </p:nvSpPr>
        <p:spPr>
          <a:xfrm>
            <a:off x="548640" y="1325880"/>
            <a:ext cx="594360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rame-174"/>
          <p:cNvSpPr/>
          <p:nvPr/>
        </p:nvSpPr>
        <p:spPr>
          <a:xfrm>
            <a:off x="2377440" y="1554480"/>
            <a:ext cx="22860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-175"/>
          <p:cNvSpPr txBox="1"/>
          <p:nvPr/>
        </p:nvSpPr>
        <p:spPr>
          <a:xfrm>
            <a:off x="237744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Сущность</a:t>
            </a:r>
            <a:endParaRPr lang="en-US" sz="1300" dirty="0"/>
          </a:p>
        </p:txBody>
      </p:sp>
      <p:sp>
        <p:nvSpPr>
          <p:cNvPr id="6" name="frame-176"/>
          <p:cNvSpPr/>
          <p:nvPr/>
        </p:nvSpPr>
        <p:spPr>
          <a:xfrm>
            <a:off x="914400" y="2514600"/>
            <a:ext cx="22860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-177"/>
          <p:cNvSpPr txBox="1"/>
          <p:nvPr/>
        </p:nvSpPr>
        <p:spPr>
          <a:xfrm>
            <a:off x="914400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Устройство</a:t>
            </a:r>
            <a:endParaRPr lang="en-US" sz="1300" dirty="0"/>
          </a:p>
        </p:txBody>
      </p:sp>
      <p:sp>
        <p:nvSpPr>
          <p:cNvPr id="8" name="frame-178"/>
          <p:cNvSpPr/>
          <p:nvPr/>
        </p:nvSpPr>
        <p:spPr>
          <a:xfrm>
            <a:off x="3840480" y="2514600"/>
            <a:ext cx="237744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-179"/>
          <p:cNvSpPr txBox="1"/>
          <p:nvPr/>
        </p:nvSpPr>
        <p:spPr>
          <a:xfrm>
            <a:off x="384048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Источник тепла</a:t>
            </a:r>
            <a:endParaRPr lang="en-US" sz="1300" dirty="0"/>
          </a:p>
        </p:txBody>
      </p:sp>
      <p:sp>
        <p:nvSpPr>
          <p:cNvPr id="10" name="frame-180"/>
          <p:cNvSpPr/>
          <p:nvPr/>
        </p:nvSpPr>
        <p:spPr>
          <a:xfrm>
            <a:off x="914400" y="3474720"/>
            <a:ext cx="228600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-181"/>
          <p:cNvSpPr txBox="1"/>
          <p:nvPr/>
        </p:nvSpPr>
        <p:spPr>
          <a:xfrm>
            <a:off x="91440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Комплектующее</a:t>
            </a:r>
            <a:endParaRPr lang="en-US" sz="1300" dirty="0"/>
          </a:p>
        </p:txBody>
      </p:sp>
      <p:sp>
        <p:nvSpPr>
          <p:cNvPr id="12" name="frame-182"/>
          <p:cNvSpPr/>
          <p:nvPr/>
        </p:nvSpPr>
        <p:spPr>
          <a:xfrm>
            <a:off x="2377440" y="4434840"/>
            <a:ext cx="22860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-183"/>
          <p:cNvSpPr txBox="1"/>
          <p:nvPr/>
        </p:nvSpPr>
        <p:spPr>
          <a:xfrm>
            <a:off x="2377440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Процессор</a:t>
            </a:r>
            <a:endParaRPr lang="en-US" sz="1300" dirty="0"/>
          </a:p>
        </p:txBody>
      </p:sp>
      <p:sp>
        <p:nvSpPr>
          <p:cNvPr id="14" name="frame-184"/>
          <p:cNvSpPr/>
          <p:nvPr/>
        </p:nvSpPr>
        <p:spPr>
          <a:xfrm>
            <a:off x="2377440" y="5394960"/>
            <a:ext cx="228600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-185"/>
          <p:cNvSpPr txBox="1"/>
          <p:nvPr/>
        </p:nvSpPr>
        <p:spPr>
          <a:xfrm>
            <a:off x="2377440" y="5394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Intel Core i5-12400F</a:t>
            </a:r>
            <a:endParaRPr lang="en-US" sz="1300" dirty="0"/>
          </a:p>
        </p:txBody>
      </p:sp>
      <p:sp>
        <p:nvSpPr>
          <p:cNvPr id="16" name="arrow-186"/>
          <p:cNvSpPr/>
          <p:nvPr/>
        </p:nvSpPr>
        <p:spPr>
          <a:xfrm flipV="1">
            <a:off x="2057400" y="2057400"/>
            <a:ext cx="1051560" cy="4572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arrow-187"/>
          <p:cNvSpPr/>
          <p:nvPr/>
        </p:nvSpPr>
        <p:spPr>
          <a:xfrm flipH="1" flipV="1">
            <a:off x="4023360" y="2057400"/>
            <a:ext cx="1005840" cy="4572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arrow-188"/>
          <p:cNvSpPr/>
          <p:nvPr/>
        </p:nvSpPr>
        <p:spPr>
          <a:xfrm flipV="1">
            <a:off x="2057400" y="3017520"/>
            <a:ext cx="914" cy="4572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arrow-189"/>
          <p:cNvSpPr/>
          <p:nvPr/>
        </p:nvSpPr>
        <p:spPr>
          <a:xfrm flipH="1" flipV="1">
            <a:off x="2194560" y="3977640"/>
            <a:ext cx="914400" cy="4572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arrow-190"/>
          <p:cNvSpPr/>
          <p:nvPr/>
        </p:nvSpPr>
        <p:spPr>
          <a:xfrm flipV="1">
            <a:off x="4023360" y="3017520"/>
            <a:ext cx="1005840" cy="1417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arrow-191"/>
          <p:cNvSpPr/>
          <p:nvPr/>
        </p:nvSpPr>
        <p:spPr>
          <a:xfrm flipV="1">
            <a:off x="3520440" y="4937760"/>
            <a:ext cx="914" cy="4572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text-192"/>
          <p:cNvSpPr txBox="1"/>
          <p:nvPr/>
        </p:nvSpPr>
        <p:spPr>
          <a:xfrm>
            <a:off x="4800600" y="4434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множественное наследование, порядок поиска — C3 (как в Python)</a:t>
            </a:r>
            <a:endParaRPr lang="en-US" sz="1100" dirty="0"/>
          </a:p>
        </p:txBody>
      </p:sp>
      <p:sp>
        <p:nvSpPr>
          <p:cNvPr id="23" name="text-193"/>
          <p:cNvSpPr txBox="1"/>
          <p:nvPr/>
        </p:nvSpPr>
        <p:spPr>
          <a:xfrm>
            <a:off x="6949440" y="1325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Демоны (присоединённые процедуры)</a:t>
            </a:r>
            <a:endParaRPr lang="en-US" sz="1800" dirty="0"/>
          </a:p>
        </p:txBody>
      </p:sp>
      <p:sp>
        <p:nvSpPr>
          <p:cNvPr id="24" name="card-194"/>
          <p:cNvSpPr/>
          <p:nvPr/>
        </p:nvSpPr>
        <p:spPr>
          <a:xfrm>
            <a:off x="6949440" y="1828800"/>
            <a:ext cx="4663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195"/>
          <p:cNvSpPr txBox="1"/>
          <p:nvPr/>
        </p:nvSpPr>
        <p:spPr>
          <a:xfrm>
            <a:off x="717804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if_needed</a:t>
            </a:r>
            <a:endParaRPr lang="en-US" sz="1500" dirty="0"/>
          </a:p>
        </p:txBody>
      </p:sp>
      <p:sp>
        <p:nvSpPr>
          <p:cNvPr id="26" name="text-196"/>
          <p:cNvSpPr txBox="1"/>
          <p:nvPr/>
        </p:nvSpPr>
        <p:spPr>
          <a:xfrm>
            <a:off x="8595360" y="1938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age_years, lifetime_left</a:t>
            </a:r>
            <a:endParaRPr lang="en-US" sz="1300" dirty="0"/>
          </a:p>
        </p:txBody>
      </p:sp>
      <p:sp>
        <p:nvSpPr>
          <p:cNvPr id="27" name="text-197"/>
          <p:cNvSpPr txBox="1"/>
          <p:nvPr/>
        </p:nvSpPr>
        <p:spPr>
          <a:xfrm>
            <a:off x="7178040" y="23317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возраст и остаток ресурса считаются при обращении: HDD 2018 г. — ресурс исчерпан на 3 года</a:t>
            </a:r>
            <a:endParaRPr lang="en-US" sz="1300" dirty="0"/>
          </a:p>
        </p:txBody>
      </p:sp>
      <p:sp>
        <p:nvSpPr>
          <p:cNvPr id="28" name="card-198"/>
          <p:cNvSpPr/>
          <p:nvPr/>
        </p:nvSpPr>
        <p:spPr>
          <a:xfrm>
            <a:off x="6949440" y="3246120"/>
            <a:ext cx="4663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-199"/>
          <p:cNvSpPr txBox="1"/>
          <p:nvPr/>
        </p:nvSpPr>
        <p:spPr>
          <a:xfrm>
            <a:off x="7178040" y="3355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if_added</a:t>
            </a:r>
            <a:endParaRPr lang="en-US" sz="1500" dirty="0"/>
          </a:p>
        </p:txBody>
      </p:sp>
      <p:sp>
        <p:nvSpPr>
          <p:cNvPr id="30" name="text-200"/>
          <p:cNvSpPr txBox="1"/>
          <p:nvPr/>
        </p:nvSpPr>
        <p:spPr>
          <a:xfrm>
            <a:off x="8595360" y="3355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current_temp</a:t>
            </a:r>
            <a:endParaRPr lang="en-US" sz="1300" dirty="0"/>
          </a:p>
        </p:txBody>
      </p:sp>
      <p:sp>
        <p:nvSpPr>
          <p:cNvPr id="31" name="text-201"/>
          <p:cNvSpPr txBox="1"/>
          <p:nvPr/>
        </p:nvSpPr>
        <p:spPr>
          <a:xfrm>
            <a:off x="7178040" y="37490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запись 104 °C → «перегрев!», статус процессора меняется автоматически</a:t>
            </a:r>
            <a:endParaRPr lang="en-US" sz="1300" dirty="0"/>
          </a:p>
        </p:txBody>
      </p:sp>
      <p:sp>
        <p:nvSpPr>
          <p:cNvPr id="32" name="text-202"/>
          <p:cNvSpPr txBox="1"/>
          <p:nvPr/>
        </p:nvSpPr>
        <p:spPr>
          <a:xfrm>
            <a:off x="694944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Работа с фреймами (неделя 9)</a:t>
            </a:r>
            <a:endParaRPr lang="en-US" sz="1600" dirty="0"/>
          </a:p>
        </p:txBody>
      </p:sp>
      <p:sp>
        <p:nvSpPr>
          <p:cNvPr id="33" name="text-203"/>
          <p:cNvSpPr txBox="1"/>
          <p:nvPr/>
        </p:nvSpPr>
        <p:spPr>
          <a:xfrm>
            <a:off x="6949440" y="51663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find класс:heat_source max_temp&gt;=95 · set · del · new · save — поиск учитывает унаследованные и вычисляемые слоты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обучение: Байес и нейросеть</a:t>
            </a:r>
            <a:endParaRPr lang="en-US" sz="3400" dirty="0"/>
          </a:p>
        </p:txBody>
      </p:sp>
      <p:graphicFrame>
        <p:nvGraphicFramePr>
          <p:cNvPr id="3" name="chart-204" descr=""/>
          <p:cNvGraphicFramePr/>
          <p:nvPr/>
        </p:nvGraphicFramePr>
        <p:xfrm>
          <a:off x="548640" y="132588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-205"/>
          <p:cNvSpPr txBox="1"/>
          <p:nvPr/>
        </p:nvSpPr>
        <p:spPr>
          <a:xfrm>
            <a:off x="548640" y="5623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Датасет: 2000 примеров, сгенерированных из P(признак | неисправность), разбиение 75 / 25 со стратификацией</a:t>
            </a:r>
            <a:endParaRPr lang="en-US" sz="1200" dirty="0"/>
          </a:p>
        </p:txBody>
      </p:sp>
      <p:sp>
        <p:nvSpPr>
          <p:cNvPr id="5" name="card-206"/>
          <p:cNvSpPr/>
          <p:nvPr/>
        </p:nvSpPr>
        <p:spPr>
          <a:xfrm>
            <a:off x="7406640" y="1325880"/>
            <a:ext cx="42062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07"/>
          <p:cNvSpPr txBox="1"/>
          <p:nvPr/>
        </p:nvSpPr>
        <p:spPr>
          <a:xfrm>
            <a:off x="763524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Нейросеть (с нуля на numpy)</a:t>
            </a:r>
            <a:endParaRPr lang="en-US" sz="1600" dirty="0"/>
          </a:p>
        </p:txBody>
      </p:sp>
      <p:sp>
        <p:nvSpPr>
          <p:cNvPr id="7" name="text-208"/>
          <p:cNvSpPr txBox="1"/>
          <p:nvPr/>
        </p:nvSpPr>
        <p:spPr>
          <a:xfrm>
            <a:off x="763524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→ 32 → 16 → 8</a:t>
            </a:r>
            <a:endParaRPr lang="en-US" sz="2800" dirty="0"/>
          </a:p>
        </p:txBody>
      </p:sp>
      <p:sp>
        <p:nvSpPr>
          <p:cNvPr id="8" name="text-209"/>
          <p:cNvSpPr txBox="1"/>
          <p:nvPr/>
        </p:nvSpPr>
        <p:spPr>
          <a:xfrm>
            <a:off x="763524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ReLU, softmax · Adam · L2 · ранняя остановка · 1336 параметров · проверка градиентов</a:t>
            </a:r>
            <a:endParaRPr lang="en-US" sz="1300" dirty="0"/>
          </a:p>
        </p:txBody>
      </p:sp>
      <p:sp>
        <p:nvSpPr>
          <p:cNvPr id="9" name="card-210"/>
          <p:cNvSpPr/>
          <p:nvPr/>
        </p:nvSpPr>
        <p:spPr>
          <a:xfrm>
            <a:off x="7406640" y="3840480"/>
            <a:ext cx="42062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211"/>
          <p:cNvSpPr txBox="1"/>
          <p:nvPr/>
        </p:nvSpPr>
        <p:spPr>
          <a:xfrm>
            <a:off x="763524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Вывод</a:t>
            </a:r>
            <a:endParaRPr lang="en-US" sz="1600" dirty="0"/>
          </a:p>
        </p:txBody>
      </p:sp>
      <p:sp>
        <p:nvSpPr>
          <p:cNvPr id="11" name="text-212"/>
          <p:cNvSpPr txBox="1"/>
          <p:nvPr/>
        </p:nvSpPr>
        <p:spPr>
          <a:xfrm>
            <a:off x="7635240" y="43891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Обученный Байес почти совпадает с экспертным: по данным восстанавливаются вероятности эксперта (0.84 против 0.85). Top-3 accuracy — 97.6 %.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Экспертная система: объединение механизмов</a:t>
            </a:r>
            <a:endParaRPr lang="en-US" sz="3400" dirty="0"/>
          </a:p>
        </p:txBody>
      </p:sp>
      <p:sp>
        <p:nvSpPr>
          <p:cNvPr id="3" name="card-213"/>
          <p:cNvSpPr/>
          <p:nvPr/>
        </p:nvSpPr>
        <p:spPr>
          <a:xfrm>
            <a:off x="548640" y="132588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21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уверенность = 0.35 · Байес + 0.35 · нейросеть + 0.30 · правила (логика и продукции)</a:t>
            </a:r>
            <a:endParaRPr lang="en-US" sz="2200" dirty="0"/>
          </a:p>
        </p:txBody>
      </p:sp>
      <p:sp>
        <p:nvSpPr>
          <p:cNvPr id="5" name="text-215"/>
          <p:cNvSpPr txBox="1"/>
          <p:nvPr/>
        </p:nvSpPr>
        <p:spPr>
          <a:xfrm>
            <a:off x="54864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Выбор следующего вопроса</a:t>
            </a:r>
            <a:endParaRPr lang="en-US" sz="1800" dirty="0"/>
          </a:p>
        </p:txBody>
      </p:sp>
      <p:sp>
        <p:nvSpPr>
          <p:cNvPr id="6" name="text-216"/>
          <p:cNvSpPr txBox="1"/>
          <p:nvPr/>
        </p:nvSpPr>
        <p:spPr>
          <a:xfrm>
            <a:off x="548640" y="32004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Система спрашивает о признаке с максимальным ожидаемым приростом информации:</a:t>
            </a:r>
            <a:endParaRPr lang="en-US" sz="1400" dirty="0"/>
          </a:p>
        </p:txBody>
      </p:sp>
      <p:sp>
        <p:nvSpPr>
          <p:cNvPr id="7" name="text-217"/>
          <p:cNvSpPr txBox="1"/>
          <p:nvPr/>
        </p:nvSpPr>
        <p:spPr>
          <a:xfrm>
            <a:off x="548640" y="3794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IG(s) = H(F) − [P(s)·H(F|s) + P(¬s)·H(F|¬s)]</a:t>
            </a:r>
            <a:endParaRPr lang="en-US" sz="1500" dirty="0"/>
          </a:p>
        </p:txBody>
      </p:sp>
      <p:sp>
        <p:nvSpPr>
          <p:cNvPr id="8" name="text-218"/>
          <p:cNvSpPr txBox="1"/>
          <p:nvPr/>
        </p:nvSpPr>
        <p:spPr>
          <a:xfrm>
            <a:off x="548640" y="43891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Ответ «почему?» — между какими гипотезами выбирает вопрос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Остановка при уверенности ≥ 90 %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Обычно хватает 2–3 вопросов</a:t>
            </a:r>
            <a:endParaRPr lang="en-US" sz="1400" dirty="0"/>
          </a:p>
        </p:txBody>
      </p:sp>
      <p:sp>
        <p:nvSpPr>
          <p:cNvPr id="9" name="card-219"/>
          <p:cNvSpPr/>
          <p:nvPr/>
        </p:nvSpPr>
        <p:spPr>
          <a:xfrm>
            <a:off x="6309360" y="2788920"/>
            <a:ext cx="530352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220"/>
          <p:cNvSpPr txBox="1"/>
          <p:nvPr/>
        </p:nvSpPr>
        <p:spPr>
          <a:xfrm>
            <a:off x="653796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96.7 %</a:t>
            </a:r>
            <a:endParaRPr lang="en-US" sz="4000" dirty="0"/>
          </a:p>
        </p:txBody>
      </p:sp>
      <p:sp>
        <p:nvSpPr>
          <p:cNvPr id="11" name="text-221"/>
          <p:cNvSpPr txBox="1"/>
          <p:nvPr/>
        </p:nvSpPr>
        <p:spPr>
          <a:xfrm>
            <a:off x="868680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Отказ накопителя (HDD/SSD)</a:t>
            </a:r>
            <a:endParaRPr lang="en-US" sz="1500" dirty="0"/>
          </a:p>
        </p:txBody>
      </p:sp>
      <p:sp>
        <p:nvSpPr>
          <p:cNvPr id="12" name="text-222"/>
          <p:cNvSpPr txBox="1"/>
          <p:nvPr/>
        </p:nvSpPr>
        <p:spPr>
          <a:xfrm>
            <a:off x="653796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Байес</a:t>
            </a:r>
            <a:endParaRPr lang="en-US" sz="1400" dirty="0"/>
          </a:p>
        </p:txBody>
      </p:sp>
      <p:sp>
        <p:nvSpPr>
          <p:cNvPr id="13" name="text-223"/>
          <p:cNvSpPr txBox="1"/>
          <p:nvPr/>
        </p:nvSpPr>
        <p:spPr>
          <a:xfrm>
            <a:off x="896112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92 %</a:t>
            </a:r>
            <a:endParaRPr lang="en-US" sz="1400" dirty="0"/>
          </a:p>
        </p:txBody>
      </p:sp>
      <p:sp>
        <p:nvSpPr>
          <p:cNvPr id="14" name="text-224"/>
          <p:cNvSpPr txBox="1"/>
          <p:nvPr/>
        </p:nvSpPr>
        <p:spPr>
          <a:xfrm>
            <a:off x="6537960" y="4178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Нейросеть</a:t>
            </a:r>
            <a:endParaRPr lang="en-US" sz="1400" dirty="0"/>
          </a:p>
        </p:txBody>
      </p:sp>
      <p:sp>
        <p:nvSpPr>
          <p:cNvPr id="15" name="text-225"/>
          <p:cNvSpPr txBox="1"/>
          <p:nvPr/>
        </p:nvSpPr>
        <p:spPr>
          <a:xfrm>
            <a:off x="896112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99 %</a:t>
            </a:r>
            <a:endParaRPr lang="en-US" sz="1400" dirty="0"/>
          </a:p>
        </p:txBody>
      </p:sp>
      <p:sp>
        <p:nvSpPr>
          <p:cNvPr id="16" name="text-226"/>
          <p:cNvSpPr txBox="1"/>
          <p:nvPr/>
        </p:nvSpPr>
        <p:spPr>
          <a:xfrm>
            <a:off x="6537960" y="4562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Логика + продукции</a:t>
            </a:r>
            <a:endParaRPr lang="en-US" sz="1400" dirty="0"/>
          </a:p>
        </p:txBody>
      </p:sp>
      <p:sp>
        <p:nvSpPr>
          <p:cNvPr id="17" name="text-227"/>
          <p:cNvSpPr txBox="1"/>
          <p:nvPr/>
        </p:nvSpPr>
        <p:spPr>
          <a:xfrm>
            <a:off x="8961120" y="45628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✔ подтверждено</a:t>
            </a:r>
            <a:endParaRPr lang="en-US" sz="1400" dirty="0"/>
          </a:p>
        </p:txBody>
      </p:sp>
      <p:sp>
        <p:nvSpPr>
          <p:cNvPr id="18" name="warn-228"/>
          <p:cNvSpPr/>
          <p:nvPr/>
        </p:nvSpPr>
        <p:spPr>
          <a:xfrm>
            <a:off x="6537960" y="5029200"/>
            <a:ext cx="484632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-229"/>
          <p:cNvSpPr txBox="1"/>
          <p:nvPr/>
        </p:nvSpPr>
        <p:spPr>
          <a:xfrm>
            <a:off x="6720840" y="5029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⚠ Фреймы: Seagate 1 ТБ старше срока службы на 3 года — гипотеза подкреплена данными о вашем ПК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ИИ-помощник: диалог на естественном языке</a:t>
            </a:r>
            <a:endParaRPr lang="en-US" sz="3400" dirty="0"/>
          </a:p>
        </p:txBody>
      </p:sp>
      <p:sp>
        <p:nvSpPr>
          <p:cNvPr id="3" name="badge-230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dge-text-231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-232"/>
          <p:cNvSpPr txBox="1"/>
          <p:nvPr/>
        </p:nvSpPr>
        <p:spPr>
          <a:xfrm>
            <a:off x="123444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Ввод</a:t>
            </a:r>
            <a:endParaRPr lang="en-US" sz="1700" dirty="0"/>
          </a:p>
        </p:txBody>
      </p:sp>
      <p:sp>
        <p:nvSpPr>
          <p:cNvPr id="6" name="text-233"/>
          <p:cNvSpPr txBox="1"/>
          <p:nvPr/>
        </p:nvSpPr>
        <p:spPr>
          <a:xfrm>
            <a:off x="123444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текст на русском</a:t>
            </a:r>
            <a:endParaRPr lang="en-US" sz="1300" dirty="0"/>
          </a:p>
        </p:txBody>
      </p:sp>
      <p:sp>
        <p:nvSpPr>
          <p:cNvPr id="7" name="badge-23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-text-235"/>
          <p:cNvSpPr txBox="1"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-236"/>
          <p:cNvSpPr txBox="1"/>
          <p:nvPr/>
        </p:nvSpPr>
        <p:spPr>
          <a:xfrm>
            <a:off x="12344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Анализ</a:t>
            </a:r>
            <a:endParaRPr lang="en-US" sz="1700" dirty="0"/>
          </a:p>
        </p:txBody>
      </p:sp>
      <p:sp>
        <p:nvSpPr>
          <p:cNvPr id="10" name="text-237"/>
          <p:cNvSpPr txBox="1"/>
          <p:nvPr/>
        </p:nvSpPr>
        <p:spPr>
          <a:xfrm>
            <a:off x="1234440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клаузы, основы слов, отрицания, намерение</a:t>
            </a:r>
            <a:endParaRPr lang="en-US" sz="1300" dirty="0"/>
          </a:p>
        </p:txBody>
      </p:sp>
      <p:sp>
        <p:nvSpPr>
          <p:cNvPr id="11" name="badge-238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-text-239"/>
          <p:cNvSpPr txBox="1"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-240"/>
          <p:cNvSpPr txBox="1"/>
          <p:nvPr/>
        </p:nvSpPr>
        <p:spPr>
          <a:xfrm>
            <a:off x="123444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Поиск решения</a:t>
            </a:r>
            <a:endParaRPr lang="en-US" sz="1700" dirty="0"/>
          </a:p>
        </p:txBody>
      </p:sp>
      <p:sp>
        <p:nvSpPr>
          <p:cNvPr id="14" name="text-241"/>
          <p:cNvSpPr txBox="1"/>
          <p:nvPr/>
        </p:nvSpPr>
        <p:spPr>
          <a:xfrm>
            <a:off x="123444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экспертная система, фреймы, сеть</a:t>
            </a:r>
            <a:endParaRPr lang="en-US" sz="1300" dirty="0"/>
          </a:p>
        </p:txBody>
      </p:sp>
      <p:sp>
        <p:nvSpPr>
          <p:cNvPr id="15" name="badge-242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ext-243"/>
          <p:cNvSpPr txBox="1"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-244"/>
          <p:cNvSpPr txBox="1"/>
          <p:nvPr/>
        </p:nvSpPr>
        <p:spPr>
          <a:xfrm>
            <a:off x="123444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Ответ</a:t>
            </a:r>
            <a:endParaRPr lang="en-US" sz="1700" dirty="0"/>
          </a:p>
        </p:txBody>
      </p:sp>
      <p:sp>
        <p:nvSpPr>
          <p:cNvPr id="18" name="text-245"/>
          <p:cNvSpPr txBox="1"/>
          <p:nvPr/>
        </p:nvSpPr>
        <p:spPr>
          <a:xfrm>
            <a:off x="123444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шаблоны + контекст диалога</a:t>
            </a:r>
            <a:endParaRPr lang="en-US" sz="1300" dirty="0"/>
          </a:p>
        </p:txBody>
      </p:sp>
      <p:sp>
        <p:nvSpPr>
          <p:cNvPr id="19" name="bubble-246"/>
          <p:cNvSpPr/>
          <p:nvPr/>
        </p:nvSpPr>
        <p:spPr>
          <a:xfrm>
            <a:off x="7680960" y="1325880"/>
            <a:ext cx="3931920" cy="45720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247"/>
          <p:cNvSpPr txBox="1"/>
          <p:nvPr/>
        </p:nvSpPr>
        <p:spPr>
          <a:xfrm>
            <a:off x="781812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Комп иногда сам перезагружается, синего экрана нет</a:t>
            </a:r>
            <a:endParaRPr lang="en-US" sz="1300" dirty="0"/>
          </a:p>
        </p:txBody>
      </p:sp>
      <p:sp>
        <p:nvSpPr>
          <p:cNvPr id="21" name="bubble-248"/>
          <p:cNvSpPr/>
          <p:nvPr/>
        </p:nvSpPr>
        <p:spPr>
          <a:xfrm>
            <a:off x="4754880" y="1947672"/>
            <a:ext cx="5669280" cy="731520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-249"/>
          <p:cNvSpPr txBox="1"/>
          <p:nvPr/>
        </p:nvSpPr>
        <p:spPr>
          <a:xfrm>
            <a:off x="4892040" y="194767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Распознал: перезагрузки. Учту, что нет: синий экран. Вопрос 1: температура процессора выше 85 °C?</a:t>
            </a:r>
            <a:endParaRPr lang="en-US" sz="1300" dirty="0"/>
          </a:p>
        </p:txBody>
      </p:sp>
      <p:sp>
        <p:nvSpPr>
          <p:cNvPr id="23" name="bubble-250"/>
          <p:cNvSpPr/>
          <p:nvPr/>
        </p:nvSpPr>
        <p:spPr>
          <a:xfrm>
            <a:off x="7680960" y="2843784"/>
            <a:ext cx="3931920" cy="45720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-251"/>
          <p:cNvSpPr txBox="1"/>
          <p:nvPr/>
        </p:nvSpPr>
        <p:spPr>
          <a:xfrm>
            <a:off x="7818120" y="28437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почему?</a:t>
            </a:r>
            <a:endParaRPr lang="en-US" sz="1300" dirty="0"/>
          </a:p>
        </p:txBody>
      </p:sp>
      <p:sp>
        <p:nvSpPr>
          <p:cNvPr id="25" name="bubble-252"/>
          <p:cNvSpPr/>
          <p:nvPr/>
        </p:nvSpPr>
        <p:spPr>
          <a:xfrm>
            <a:off x="4754880" y="3465576"/>
            <a:ext cx="5669280" cy="731520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-253"/>
          <p:cNvSpPr txBox="1"/>
          <p:nvPr/>
        </p:nvSpPr>
        <p:spPr>
          <a:xfrm>
            <a:off x="4892040" y="346557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Перегрев — 43 %, БП — 32 %. Ответ лучше всего разделит эти гипотезы</a:t>
            </a:r>
            <a:endParaRPr lang="en-US" sz="1300" dirty="0"/>
          </a:p>
        </p:txBody>
      </p:sp>
      <p:sp>
        <p:nvSpPr>
          <p:cNvPr id="27" name="bubble-254"/>
          <p:cNvSpPr/>
          <p:nvPr/>
        </p:nvSpPr>
        <p:spPr>
          <a:xfrm>
            <a:off x="7680960" y="4361688"/>
            <a:ext cx="3931920" cy="45720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-255"/>
          <p:cNvSpPr txBox="1"/>
          <p:nvPr/>
        </p:nvSpPr>
        <p:spPr>
          <a:xfrm>
            <a:off x="7818120" y="4361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да</a:t>
            </a:r>
            <a:endParaRPr lang="en-US" sz="1300" dirty="0"/>
          </a:p>
        </p:txBody>
      </p:sp>
      <p:sp>
        <p:nvSpPr>
          <p:cNvPr id="29" name="bubble-256"/>
          <p:cNvSpPr/>
          <p:nvPr/>
        </p:nvSpPr>
        <p:spPr>
          <a:xfrm>
            <a:off x="4754880" y="4983480"/>
            <a:ext cx="5669280" cy="731520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-257"/>
          <p:cNvSpPr txBox="1"/>
          <p:nvPr/>
        </p:nvSpPr>
        <p:spPr>
          <a:xfrm>
            <a:off x="4892040" y="49834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95.5 % — перегрев процессора. Почистите радиатор, замените термопасту…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и тестирование</a:t>
            </a:r>
            <a:endParaRPr lang="en-US" sz="3400" dirty="0"/>
          </a:p>
        </p:txBody>
      </p:sp>
      <p:sp>
        <p:nvSpPr>
          <p:cNvPr id="3" name="card-258"/>
          <p:cNvSpPr/>
          <p:nvPr/>
        </p:nvSpPr>
        <p:spPr>
          <a:xfrm>
            <a:off x="54864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59"/>
          <p:cNvSpPr txBox="1"/>
          <p:nvPr/>
        </p:nvSpPr>
        <p:spPr>
          <a:xfrm>
            <a:off x="77724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4800" dirty="0"/>
          </a:p>
        </p:txBody>
      </p:sp>
      <p:sp>
        <p:nvSpPr>
          <p:cNvPr id="5" name="text-260"/>
          <p:cNvSpPr txBox="1"/>
          <p:nvPr/>
        </p:nvSpPr>
        <p:spPr>
          <a:xfrm>
            <a:off x="77724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автотестов (unittest), все проходят</a:t>
            </a:r>
            <a:endParaRPr lang="en-US" sz="1400" dirty="0"/>
          </a:p>
        </p:txBody>
      </p:sp>
      <p:sp>
        <p:nvSpPr>
          <p:cNvPr id="6" name="card-261"/>
          <p:cNvSpPr/>
          <p:nvPr/>
        </p:nvSpPr>
        <p:spPr>
          <a:xfrm>
            <a:off x="338328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262"/>
          <p:cNvSpPr txBox="1"/>
          <p:nvPr/>
        </p:nvSpPr>
        <p:spPr>
          <a:xfrm>
            <a:off x="361188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0.870</a:t>
            </a:r>
            <a:endParaRPr lang="en-US" sz="4800" dirty="0"/>
          </a:p>
        </p:txBody>
      </p:sp>
      <p:sp>
        <p:nvSpPr>
          <p:cNvPr id="8" name="text-263"/>
          <p:cNvSpPr txBox="1"/>
          <p:nvPr/>
        </p:nvSpPr>
        <p:spPr>
          <a:xfrm>
            <a:off x="361188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 наивного Байеса на тесте</a:t>
            </a:r>
            <a:endParaRPr lang="en-US" sz="1400" dirty="0"/>
          </a:p>
        </p:txBody>
      </p:sp>
      <p:sp>
        <p:nvSpPr>
          <p:cNvPr id="9" name="card-264"/>
          <p:cNvSpPr/>
          <p:nvPr/>
        </p:nvSpPr>
        <p:spPr>
          <a:xfrm>
            <a:off x="621792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265"/>
          <p:cNvSpPr txBox="1"/>
          <p:nvPr/>
        </p:nvSpPr>
        <p:spPr>
          <a:xfrm>
            <a:off x="644652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4800" dirty="0"/>
          </a:p>
        </p:txBody>
      </p:sp>
      <p:sp>
        <p:nvSpPr>
          <p:cNvPr id="11" name="text-266"/>
          <p:cNvSpPr txBox="1"/>
          <p:nvPr/>
        </p:nvSpPr>
        <p:spPr>
          <a:xfrm>
            <a:off x="64465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фраз на русском распознаны верно</a:t>
            </a:r>
            <a:endParaRPr lang="en-US" sz="1400" dirty="0"/>
          </a:p>
        </p:txBody>
      </p:sp>
      <p:sp>
        <p:nvSpPr>
          <p:cNvPr id="12" name="card-267"/>
          <p:cNvSpPr/>
          <p:nvPr/>
        </p:nvSpPr>
        <p:spPr>
          <a:xfrm>
            <a:off x="905256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268"/>
          <p:cNvSpPr txBox="1"/>
          <p:nvPr/>
        </p:nvSpPr>
        <p:spPr>
          <a:xfrm>
            <a:off x="928116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≈2900</a:t>
            </a:r>
            <a:endParaRPr lang="en-US" sz="4800" dirty="0"/>
          </a:p>
        </p:txBody>
      </p:sp>
      <p:sp>
        <p:nvSpPr>
          <p:cNvPr id="14" name="text-269"/>
          <p:cNvSpPr txBox="1"/>
          <p:nvPr/>
        </p:nvSpPr>
        <p:spPr>
          <a:xfrm>
            <a:off x="928116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строк кода без ML-фреймворков</a:t>
            </a:r>
            <a:endParaRPr lang="en-US" sz="1400" dirty="0"/>
          </a:p>
        </p:txBody>
      </p:sp>
      <p:sp>
        <p:nvSpPr>
          <p:cNvPr id="15" name="text-270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Что проверяют тесты</a:t>
            </a:r>
            <a:endParaRPr lang="en-US" sz="1800" dirty="0"/>
          </a:p>
        </p:txBody>
      </p:sp>
      <p:sp>
        <p:nvSpPr>
          <p:cNvPr id="16" name="text-271"/>
          <p:cNvSpPr txBox="1"/>
          <p:nvPr/>
        </p:nvSpPr>
        <p:spPr>
          <a:xfrm>
            <a:off x="548640" y="406908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Унификация, транзитивные правила, AND / OR / NOT, объяснения «как» и «почему нет»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Порядок срабатывания продукций, рефрактерность, стратегии разрешения конфликтов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Наследование и демоны фреймов, поиск, сохранение и загрузка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Численная проверка градиентов нейросети, метрики, стратифицированное разбиение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Распознавание признаков, отрицаний и намерений; полный диалог с помощником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плана семестра</a:t>
            </a:r>
            <a:endParaRPr lang="en-US" sz="3400" dirty="0"/>
          </a:p>
        </p:txBody>
      </p:sp>
      <p:sp>
        <p:nvSpPr>
          <p:cNvPr id="3" name="card-272"/>
          <p:cNvSpPr/>
          <p:nvPr/>
        </p:nvSpPr>
        <p:spPr>
          <a:xfrm>
            <a:off x="548640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27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274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6" name="text-275"/>
          <p:cNvSpPr txBox="1"/>
          <p:nvPr/>
        </p:nvSpPr>
        <p:spPr>
          <a:xfrm>
            <a:off x="73152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База знаний, семантическая сеть</a:t>
            </a:r>
            <a:endParaRPr lang="en-US" sz="1400" dirty="0"/>
          </a:p>
        </p:txBody>
      </p:sp>
      <p:sp>
        <p:nvSpPr>
          <p:cNvPr id="7" name="text-276"/>
          <p:cNvSpPr txBox="1"/>
          <p:nvPr/>
        </p:nvSpPr>
        <p:spPr>
          <a:xfrm>
            <a:off x="260604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8" name="card-277"/>
          <p:cNvSpPr/>
          <p:nvPr/>
        </p:nvSpPr>
        <p:spPr>
          <a:xfrm>
            <a:off x="3355848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78"/>
          <p:cNvSpPr/>
          <p:nvPr/>
        </p:nvSpPr>
        <p:spPr>
          <a:xfrm>
            <a:off x="3538728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279"/>
          <p:cNvSpPr txBox="1"/>
          <p:nvPr/>
        </p:nvSpPr>
        <p:spPr>
          <a:xfrm>
            <a:off x="353872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1" name="text-280"/>
          <p:cNvSpPr txBox="1"/>
          <p:nvPr/>
        </p:nvSpPr>
        <p:spPr>
          <a:xfrm>
            <a:off x="3538728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Логическая модель, вывод</a:t>
            </a:r>
            <a:endParaRPr lang="en-US" sz="1400" dirty="0"/>
          </a:p>
        </p:txBody>
      </p:sp>
      <p:sp>
        <p:nvSpPr>
          <p:cNvPr id="12" name="text-281"/>
          <p:cNvSpPr txBox="1"/>
          <p:nvPr/>
        </p:nvSpPr>
        <p:spPr>
          <a:xfrm>
            <a:off x="5413248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13" name="card-282"/>
          <p:cNvSpPr/>
          <p:nvPr/>
        </p:nvSpPr>
        <p:spPr>
          <a:xfrm>
            <a:off x="6163056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283"/>
          <p:cNvSpPr/>
          <p:nvPr/>
        </p:nvSpPr>
        <p:spPr>
          <a:xfrm>
            <a:off x="6345936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-text-284"/>
          <p:cNvSpPr txBox="1"/>
          <p:nvPr/>
        </p:nvSpPr>
        <p:spPr>
          <a:xfrm>
            <a:off x="634593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16" name="text-285"/>
          <p:cNvSpPr txBox="1"/>
          <p:nvPr/>
        </p:nvSpPr>
        <p:spPr>
          <a:xfrm>
            <a:off x="6345936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AND / OR / NOT, объяснение</a:t>
            </a:r>
            <a:endParaRPr lang="en-US" sz="1400" dirty="0"/>
          </a:p>
        </p:txBody>
      </p:sp>
      <p:sp>
        <p:nvSpPr>
          <p:cNvPr id="17" name="text-286"/>
          <p:cNvSpPr txBox="1"/>
          <p:nvPr/>
        </p:nvSpPr>
        <p:spPr>
          <a:xfrm>
            <a:off x="8220456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18" name="card-287"/>
          <p:cNvSpPr/>
          <p:nvPr/>
        </p:nvSpPr>
        <p:spPr>
          <a:xfrm>
            <a:off x="8970264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288"/>
          <p:cNvSpPr/>
          <p:nvPr/>
        </p:nvSpPr>
        <p:spPr>
          <a:xfrm>
            <a:off x="9153144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text-289"/>
          <p:cNvSpPr txBox="1"/>
          <p:nvPr/>
        </p:nvSpPr>
        <p:spPr>
          <a:xfrm>
            <a:off x="91531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1" name="text-290"/>
          <p:cNvSpPr txBox="1"/>
          <p:nvPr/>
        </p:nvSpPr>
        <p:spPr>
          <a:xfrm>
            <a:off x="9153144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Продукции, прямой вывод</a:t>
            </a:r>
            <a:endParaRPr lang="en-US" sz="1400" dirty="0"/>
          </a:p>
        </p:txBody>
      </p:sp>
      <p:sp>
        <p:nvSpPr>
          <p:cNvPr id="22" name="text-291"/>
          <p:cNvSpPr txBox="1"/>
          <p:nvPr/>
        </p:nvSpPr>
        <p:spPr>
          <a:xfrm>
            <a:off x="11027664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23" name="card-292"/>
          <p:cNvSpPr/>
          <p:nvPr/>
        </p:nvSpPr>
        <p:spPr>
          <a:xfrm>
            <a:off x="548640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-293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badge-text-294"/>
          <p:cNvSpPr txBox="1"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26" name="text-295"/>
          <p:cNvSpPr txBox="1"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Фреймы, наследование</a:t>
            </a:r>
            <a:endParaRPr lang="en-US" sz="1400" dirty="0"/>
          </a:p>
        </p:txBody>
      </p:sp>
      <p:sp>
        <p:nvSpPr>
          <p:cNvPr id="27" name="text-296"/>
          <p:cNvSpPr txBox="1"/>
          <p:nvPr/>
        </p:nvSpPr>
        <p:spPr>
          <a:xfrm>
            <a:off x="260604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28" name="card-297"/>
          <p:cNvSpPr/>
          <p:nvPr/>
        </p:nvSpPr>
        <p:spPr>
          <a:xfrm>
            <a:off x="3355848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-298"/>
          <p:cNvSpPr/>
          <p:nvPr/>
        </p:nvSpPr>
        <p:spPr>
          <a:xfrm>
            <a:off x="3538728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adge-text-299"/>
          <p:cNvSpPr txBox="1"/>
          <p:nvPr/>
        </p:nvSpPr>
        <p:spPr>
          <a:xfrm>
            <a:off x="353872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31" name="text-300"/>
          <p:cNvSpPr txBox="1"/>
          <p:nvPr/>
        </p:nvSpPr>
        <p:spPr>
          <a:xfrm>
            <a:off x="3538728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Поиск и изменение фреймов</a:t>
            </a:r>
            <a:endParaRPr lang="en-US" sz="1400" dirty="0"/>
          </a:p>
        </p:txBody>
      </p:sp>
      <p:sp>
        <p:nvSpPr>
          <p:cNvPr id="32" name="text-301"/>
          <p:cNvSpPr txBox="1"/>
          <p:nvPr/>
        </p:nvSpPr>
        <p:spPr>
          <a:xfrm>
            <a:off x="5413248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33" name="card-302"/>
          <p:cNvSpPr/>
          <p:nvPr/>
        </p:nvSpPr>
        <p:spPr>
          <a:xfrm>
            <a:off x="6163056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-303"/>
          <p:cNvSpPr/>
          <p:nvPr/>
        </p:nvSpPr>
        <p:spPr>
          <a:xfrm>
            <a:off x="6345936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badge-text-304"/>
          <p:cNvSpPr txBox="1"/>
          <p:nvPr/>
        </p:nvSpPr>
        <p:spPr>
          <a:xfrm>
            <a:off x="634593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text-305"/>
          <p:cNvSpPr txBox="1"/>
          <p:nvPr/>
        </p:nvSpPr>
        <p:spPr>
          <a:xfrm>
            <a:off x="6345936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Поиск в семантической сети</a:t>
            </a:r>
            <a:endParaRPr lang="en-US" sz="1400" dirty="0"/>
          </a:p>
        </p:txBody>
      </p:sp>
      <p:sp>
        <p:nvSpPr>
          <p:cNvPr id="37" name="text-306"/>
          <p:cNvSpPr txBox="1"/>
          <p:nvPr/>
        </p:nvSpPr>
        <p:spPr>
          <a:xfrm>
            <a:off x="8220456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38" name="card-307"/>
          <p:cNvSpPr/>
          <p:nvPr/>
        </p:nvSpPr>
        <p:spPr>
          <a:xfrm>
            <a:off x="8970264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badge-308"/>
          <p:cNvSpPr/>
          <p:nvPr/>
        </p:nvSpPr>
        <p:spPr>
          <a:xfrm>
            <a:off x="9153144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badge-text-309"/>
          <p:cNvSpPr txBox="1"/>
          <p:nvPr/>
        </p:nvSpPr>
        <p:spPr>
          <a:xfrm>
            <a:off x="9153144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11</a:t>
            </a:r>
            <a:endParaRPr lang="en-US" sz="1500" dirty="0"/>
          </a:p>
        </p:txBody>
      </p:sp>
      <p:sp>
        <p:nvSpPr>
          <p:cNvPr id="41" name="text-310"/>
          <p:cNvSpPr txBox="1"/>
          <p:nvPr/>
        </p:nvSpPr>
        <p:spPr>
          <a:xfrm>
            <a:off x="9153144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Датасет, классификатор</a:t>
            </a:r>
            <a:endParaRPr lang="en-US" sz="1400" dirty="0"/>
          </a:p>
        </p:txBody>
      </p:sp>
      <p:sp>
        <p:nvSpPr>
          <p:cNvPr id="42" name="text-311"/>
          <p:cNvSpPr txBox="1"/>
          <p:nvPr/>
        </p:nvSpPr>
        <p:spPr>
          <a:xfrm>
            <a:off x="11027664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43" name="card-312"/>
          <p:cNvSpPr/>
          <p:nvPr/>
        </p:nvSpPr>
        <p:spPr>
          <a:xfrm>
            <a:off x="548640" y="44805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badge-313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badge-text-314"/>
          <p:cNvSpPr txBox="1"/>
          <p:nvPr/>
        </p:nvSpPr>
        <p:spPr>
          <a:xfrm>
            <a:off x="73152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12</a:t>
            </a:r>
            <a:endParaRPr lang="en-US" sz="1500" dirty="0"/>
          </a:p>
        </p:txBody>
      </p:sp>
      <p:sp>
        <p:nvSpPr>
          <p:cNvPr id="46" name="text-315"/>
          <p:cNvSpPr txBox="1"/>
          <p:nvPr/>
        </p:nvSpPr>
        <p:spPr>
          <a:xfrm>
            <a:off x="731520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Нейронная сеть</a:t>
            </a:r>
            <a:endParaRPr lang="en-US" sz="1400" dirty="0"/>
          </a:p>
        </p:txBody>
      </p:sp>
      <p:sp>
        <p:nvSpPr>
          <p:cNvPr id="47" name="text-316"/>
          <p:cNvSpPr txBox="1"/>
          <p:nvPr/>
        </p:nvSpPr>
        <p:spPr>
          <a:xfrm>
            <a:off x="2606040" y="4663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48" name="card-317"/>
          <p:cNvSpPr/>
          <p:nvPr/>
        </p:nvSpPr>
        <p:spPr>
          <a:xfrm>
            <a:off x="3355848" y="44805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badge-318"/>
          <p:cNvSpPr/>
          <p:nvPr/>
        </p:nvSpPr>
        <p:spPr>
          <a:xfrm>
            <a:off x="3538728" y="4663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badge-text-319"/>
          <p:cNvSpPr txBox="1"/>
          <p:nvPr/>
        </p:nvSpPr>
        <p:spPr>
          <a:xfrm>
            <a:off x="3538728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13</a:t>
            </a:r>
            <a:endParaRPr lang="en-US" sz="1500" dirty="0"/>
          </a:p>
        </p:txBody>
      </p:sp>
      <p:sp>
        <p:nvSpPr>
          <p:cNvPr id="51" name="text-320"/>
          <p:cNvSpPr txBox="1"/>
          <p:nvPr/>
        </p:nvSpPr>
        <p:spPr>
          <a:xfrm>
            <a:off x="3538728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Экспертная система</a:t>
            </a:r>
            <a:endParaRPr lang="en-US" sz="1400" dirty="0"/>
          </a:p>
        </p:txBody>
      </p:sp>
      <p:sp>
        <p:nvSpPr>
          <p:cNvPr id="52" name="text-321"/>
          <p:cNvSpPr txBox="1"/>
          <p:nvPr/>
        </p:nvSpPr>
        <p:spPr>
          <a:xfrm>
            <a:off x="5413248" y="4663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53" name="card-322"/>
          <p:cNvSpPr/>
          <p:nvPr/>
        </p:nvSpPr>
        <p:spPr>
          <a:xfrm>
            <a:off x="6163056" y="44805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badge-323"/>
          <p:cNvSpPr/>
          <p:nvPr/>
        </p:nvSpPr>
        <p:spPr>
          <a:xfrm>
            <a:off x="6345936" y="4663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badge-text-324"/>
          <p:cNvSpPr txBox="1"/>
          <p:nvPr/>
        </p:nvSpPr>
        <p:spPr>
          <a:xfrm>
            <a:off x="6345936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14</a:t>
            </a:r>
            <a:endParaRPr lang="en-US" sz="1500" dirty="0"/>
          </a:p>
        </p:txBody>
      </p:sp>
      <p:sp>
        <p:nvSpPr>
          <p:cNvPr id="56" name="text-325"/>
          <p:cNvSpPr txBox="1"/>
          <p:nvPr/>
        </p:nvSpPr>
        <p:spPr>
          <a:xfrm>
            <a:off x="6345936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ИИ-помощник</a:t>
            </a:r>
            <a:endParaRPr lang="en-US" sz="1400" dirty="0"/>
          </a:p>
        </p:txBody>
      </p:sp>
      <p:sp>
        <p:nvSpPr>
          <p:cNvPr id="57" name="text-326"/>
          <p:cNvSpPr txBox="1"/>
          <p:nvPr/>
        </p:nvSpPr>
        <p:spPr>
          <a:xfrm>
            <a:off x="8220456" y="4663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58" name="card-327"/>
          <p:cNvSpPr/>
          <p:nvPr/>
        </p:nvSpPr>
        <p:spPr>
          <a:xfrm>
            <a:off x="8970264" y="44805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9" name="badge-328"/>
          <p:cNvSpPr/>
          <p:nvPr/>
        </p:nvSpPr>
        <p:spPr>
          <a:xfrm>
            <a:off x="9153144" y="4663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0" name="badge-text-329"/>
          <p:cNvSpPr txBox="1"/>
          <p:nvPr/>
        </p:nvSpPr>
        <p:spPr>
          <a:xfrm>
            <a:off x="9153144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15</a:t>
            </a:r>
            <a:endParaRPr lang="en-US" sz="1500" dirty="0"/>
          </a:p>
        </p:txBody>
      </p:sp>
      <p:sp>
        <p:nvSpPr>
          <p:cNvPr id="61" name="text-330"/>
          <p:cNvSpPr txBox="1"/>
          <p:nvPr/>
        </p:nvSpPr>
        <p:spPr>
          <a:xfrm>
            <a:off x="9153144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Интеграция, README, защита</a:t>
            </a:r>
            <a:endParaRPr lang="en-US" sz="1400" dirty="0"/>
          </a:p>
        </p:txBody>
      </p:sp>
      <p:sp>
        <p:nvSpPr>
          <p:cNvPr id="62" name="text-331"/>
          <p:cNvSpPr txBox="1"/>
          <p:nvPr/>
        </p:nvSpPr>
        <p:spPr>
          <a:xfrm>
            <a:off x="11027664" y="4663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Демонстрация: python main.py</a:t>
            </a:r>
            <a:endParaRPr lang="en-US" sz="2200" dirty="0"/>
          </a:p>
        </p:txBody>
      </p:sp>
      <p:sp>
        <p:nvSpPr>
          <p:cNvPr id="4" name="text-332"/>
          <p:cNvSpPr txBox="1"/>
          <p:nvPr/>
        </p:nvSpPr>
        <p:spPr>
          <a:xfrm>
            <a:off x="73152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github.com/ruhxmai/ai-pc-doctor</a:t>
            </a:r>
            <a:endParaRPr lang="en-US" sz="1600" dirty="0"/>
          </a:p>
        </p:txBody>
      </p:sp>
      <p:sp>
        <p:nvSpPr>
          <p:cNvPr id="5" name="line-333"/>
          <p:cNvSpPr/>
          <p:nvPr/>
        </p:nvSpPr>
        <p:spPr>
          <a:xfrm>
            <a:off x="9966960" y="1371600"/>
            <a:ext cx="1188720" cy="10058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line-334"/>
          <p:cNvSpPr/>
          <p:nvPr/>
        </p:nvSpPr>
        <p:spPr>
          <a:xfrm flipH="1">
            <a:off x="8869680" y="1371600"/>
            <a:ext cx="1097280" cy="12801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line-335"/>
          <p:cNvSpPr/>
          <p:nvPr/>
        </p:nvSpPr>
        <p:spPr>
          <a:xfrm>
            <a:off x="9966960" y="1371600"/>
            <a:ext cx="274320" cy="21945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line-336"/>
          <p:cNvSpPr/>
          <p:nvPr/>
        </p:nvSpPr>
        <p:spPr>
          <a:xfrm flipH="1">
            <a:off x="10241280" y="2377440"/>
            <a:ext cx="914400" cy="11887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line-337"/>
          <p:cNvSpPr/>
          <p:nvPr/>
        </p:nvSpPr>
        <p:spPr>
          <a:xfrm>
            <a:off x="8869680" y="2651760"/>
            <a:ext cx="1371600" cy="9144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line-338"/>
          <p:cNvSpPr/>
          <p:nvPr/>
        </p:nvSpPr>
        <p:spPr>
          <a:xfrm>
            <a:off x="10241280" y="3566160"/>
            <a:ext cx="1097280" cy="9144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line-339"/>
          <p:cNvSpPr/>
          <p:nvPr/>
        </p:nvSpPr>
        <p:spPr>
          <a:xfrm flipH="1">
            <a:off x="9144000" y="3566160"/>
            <a:ext cx="1097280" cy="11887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line-340"/>
          <p:cNvSpPr/>
          <p:nvPr/>
        </p:nvSpPr>
        <p:spPr>
          <a:xfrm>
            <a:off x="9144000" y="4754880"/>
            <a:ext cx="1188720" cy="8229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line-341"/>
          <p:cNvSpPr/>
          <p:nvPr/>
        </p:nvSpPr>
        <p:spPr>
          <a:xfrm flipH="1">
            <a:off x="10332720" y="4480560"/>
            <a:ext cx="1005840" cy="10972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node-342"/>
          <p:cNvSpPr/>
          <p:nvPr/>
        </p:nvSpPr>
        <p:spPr>
          <a:xfrm>
            <a:off x="9747504" y="115214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15" name="node-343"/>
          <p:cNvSpPr/>
          <p:nvPr/>
        </p:nvSpPr>
        <p:spPr>
          <a:xfrm>
            <a:off x="10936224" y="215798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16" name="node-344"/>
          <p:cNvSpPr/>
          <p:nvPr/>
        </p:nvSpPr>
        <p:spPr>
          <a:xfrm>
            <a:off x="8650224" y="243230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17" name="node-345"/>
          <p:cNvSpPr/>
          <p:nvPr/>
        </p:nvSpPr>
        <p:spPr>
          <a:xfrm>
            <a:off x="9857232" y="3182112"/>
            <a:ext cx="768096" cy="768096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18" name="node-346"/>
          <p:cNvSpPr/>
          <p:nvPr/>
        </p:nvSpPr>
        <p:spPr>
          <a:xfrm>
            <a:off x="11119104" y="426110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19" name="node-347"/>
          <p:cNvSpPr/>
          <p:nvPr/>
        </p:nvSpPr>
        <p:spPr>
          <a:xfrm>
            <a:off x="8924544" y="453542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  <p:sp>
        <p:nvSpPr>
          <p:cNvPr id="20" name="node-348"/>
          <p:cNvSpPr/>
          <p:nvPr/>
        </p:nvSpPr>
        <p:spPr>
          <a:xfrm>
            <a:off x="10113264" y="5358384"/>
            <a:ext cx="438912" cy="438912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0F3D2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C Doctor">
  <a:themeElements>
    <a:clrScheme name="PC Doctor">
      <a:dk1>
        <a:srgbClr val="14211C"/>
      </a:dk1>
      <a:lt1>
        <a:srgbClr val="FFFFFF"/>
      </a:lt1>
      <a:dk2>
        <a:srgbClr val="0F3D2E"/>
      </a:dk2>
      <a:lt2>
        <a:srgbClr val="EEF5F1"/>
      </a:lt2>
      <a:accent1>
        <a:srgbClr val="1FA36B"/>
      </a:accent1>
      <a:accent2>
        <a:srgbClr val="F28C28"/>
      </a:accent2>
      <a:accent3>
        <a:srgbClr val="2E6F9E"/>
      </a:accent3>
      <a:accent4>
        <a:srgbClr val="7F8F88"/>
      </a:accent4>
      <a:accent5>
        <a:srgbClr val="C8423B"/>
      </a:accent5>
      <a:accent6>
        <a:srgbClr val="8FDDB5"/>
      </a:accent6>
      <a:hlink>
        <a:srgbClr val="2E6F9E"/>
      </a:hlink>
      <a:folHlink>
        <a:srgbClr val="6D5BA8"/>
      </a:folHlink>
    </a:clrScheme>
    <a:fontScheme name="PC Docto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 Doctor — ИИ-помощник для диагностики неисправностей ПК</dc:title>
  <dc:subject>Семестровый проект по дисциплине «Искусственный интеллект»</dc:subject>
  <dc:creator>PptxGenJS</dc:creator>
  <cp:lastModifiedBy>PptxGenJS</cp:lastModifiedBy>
  <cp:revision>1</cp:revision>
  <dcterms:created xsi:type="dcterms:W3CDTF">2026-10-20T20:13:28Z</dcterms:created>
  <dcterms:modified xsi:type="dcterms:W3CDTF">2026-10-20T20:13:28Z</dcterms:modified>
</cp:coreProperties>
</file>